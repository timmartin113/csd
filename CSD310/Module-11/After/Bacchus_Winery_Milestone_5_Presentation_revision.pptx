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2" r:id="rId4"/>
  </p:sldMasterIdLst>
  <p:sldIdLst>
    <p:sldId id="256" r:id="rId5"/>
    <p:sldId id="257" r:id="rId6"/>
    <p:sldId id="258" r:id="rId7"/>
    <p:sldId id="264" r:id="rId8"/>
    <p:sldId id="259" r:id="rId9"/>
    <p:sldId id="260" r:id="rId10"/>
    <p:sldId id="261" r:id="rId11"/>
    <p:sldId id="262" r:id="rId12"/>
    <p:sldId id="263"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6D4A"/>
    <a:srgbClr val="F8F4E8"/>
    <a:srgbClr val="B8860B"/>
    <a:srgbClr val="5C1B2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16F3F8-0C47-0515-822C-FD349A0FC68B}" v="32" dt="2026-07-31T16:50:13.489"/>
    <p1510:client id="{325CCDFF-5E8E-CC46-E74F-9D4300E9EA99}" v="47" dt="2026-07-31T01:39:44.2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737"/>
    <p:restoredTop sz="94717"/>
  </p:normalViewPr>
  <p:slideViewPr>
    <p:cSldViewPr snapToGrid="0" snapToObjects="1">
      <p:cViewPr varScale="1">
        <p:scale>
          <a:sx n="96" d="100"/>
          <a:sy n="96" d="100"/>
        </p:scale>
        <p:origin x="848" y="9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othy Martin" userId="S::timmartin@my365.bellevue.edu::caba8769-0f7e-4097-9511-4535acc82781" providerId="AD" clId="Web-{1B16F3F8-0C47-0515-822C-FD349A0FC68B}"/>
    <pc:docChg chg="modSld">
      <pc:chgData name="Timothy Martin" userId="S::timmartin@my365.bellevue.edu::caba8769-0f7e-4097-9511-4535acc82781" providerId="AD" clId="Web-{1B16F3F8-0C47-0515-822C-FD349A0FC68B}" dt="2026-07-31T16:50:13.489" v="31" actId="1076"/>
      <pc:docMkLst>
        <pc:docMk/>
      </pc:docMkLst>
      <pc:sldChg chg="addSp delSp modSp">
        <pc:chgData name="Timothy Martin" userId="S::timmartin@my365.bellevue.edu::caba8769-0f7e-4097-9511-4535acc82781" providerId="AD" clId="Web-{1B16F3F8-0C47-0515-822C-FD349A0FC68B}" dt="2026-07-31T16:47:00.175" v="15"/>
        <pc:sldMkLst>
          <pc:docMk/>
          <pc:sldMk cId="0" sldId="260"/>
        </pc:sldMkLst>
        <pc:picChg chg="del">
          <ac:chgData name="Timothy Martin" userId="S::timmartin@my365.bellevue.edu::caba8769-0f7e-4097-9511-4535acc82781" providerId="AD" clId="Web-{1B16F3F8-0C47-0515-822C-FD349A0FC68B}" dt="2026-07-31T16:43:19.221" v="0"/>
          <ac:picMkLst>
            <pc:docMk/>
            <pc:sldMk cId="0" sldId="260"/>
            <ac:picMk id="4" creationId="{E81D5117-CA5C-93A7-E6DD-F914834600ED}"/>
          </ac:picMkLst>
        </pc:picChg>
        <pc:picChg chg="del mod">
          <ac:chgData name="Timothy Martin" userId="S::timmartin@my365.bellevue.edu::caba8769-0f7e-4097-9511-4535acc82781" providerId="AD" clId="Web-{1B16F3F8-0C47-0515-822C-FD349A0FC68B}" dt="2026-07-31T16:47:00.175" v="15"/>
          <ac:picMkLst>
            <pc:docMk/>
            <pc:sldMk cId="0" sldId="260"/>
            <ac:picMk id="5" creationId="{3BD6A0E6-1F62-A159-425E-01BBA2C12F46}"/>
          </ac:picMkLst>
        </pc:picChg>
        <pc:picChg chg="add del mod modCrop">
          <ac:chgData name="Timothy Martin" userId="S::timmartin@my365.bellevue.edu::caba8769-0f7e-4097-9511-4535acc82781" providerId="AD" clId="Web-{1B16F3F8-0C47-0515-822C-FD349A0FC68B}" dt="2026-07-31T16:45:48.534" v="6"/>
          <ac:picMkLst>
            <pc:docMk/>
            <pc:sldMk cId="0" sldId="260"/>
            <ac:picMk id="8" creationId="{9FEAF854-6024-2B2D-70F8-C313228420D4}"/>
          </ac:picMkLst>
        </pc:picChg>
        <pc:picChg chg="add mod ord modCrop">
          <ac:chgData name="Timothy Martin" userId="S::timmartin@my365.bellevue.edu::caba8769-0f7e-4097-9511-4535acc82781" providerId="AD" clId="Web-{1B16F3F8-0C47-0515-822C-FD349A0FC68B}" dt="2026-07-31T16:46:48.019" v="13"/>
          <ac:picMkLst>
            <pc:docMk/>
            <pc:sldMk cId="0" sldId="260"/>
            <ac:picMk id="9" creationId="{04F76B5A-42EF-40E7-D43D-B1A10EA4EF5A}"/>
          </ac:picMkLst>
        </pc:picChg>
      </pc:sldChg>
      <pc:sldChg chg="addSp delSp modSp">
        <pc:chgData name="Timothy Martin" userId="S::timmartin@my365.bellevue.edu::caba8769-0f7e-4097-9511-4535acc82781" providerId="AD" clId="Web-{1B16F3F8-0C47-0515-822C-FD349A0FC68B}" dt="2026-07-31T16:48:52.832" v="23" actId="14100"/>
        <pc:sldMkLst>
          <pc:docMk/>
          <pc:sldMk cId="0" sldId="261"/>
        </pc:sldMkLst>
        <pc:spChg chg="mod">
          <ac:chgData name="Timothy Martin" userId="S::timmartin@my365.bellevue.edu::caba8769-0f7e-4097-9511-4535acc82781" providerId="AD" clId="Web-{1B16F3F8-0C47-0515-822C-FD349A0FC68B}" dt="2026-07-31T16:48:52.832" v="23" actId="14100"/>
          <ac:spMkLst>
            <pc:docMk/>
            <pc:sldMk cId="0" sldId="261"/>
            <ac:spMk id="3" creationId="{00000000-0000-0000-0000-000000000000}"/>
          </ac:spMkLst>
        </pc:spChg>
        <pc:picChg chg="del">
          <ac:chgData name="Timothy Martin" userId="S::timmartin@my365.bellevue.edu::caba8769-0f7e-4097-9511-4535acc82781" providerId="AD" clId="Web-{1B16F3F8-0C47-0515-822C-FD349A0FC68B}" dt="2026-07-31T16:47:27.957" v="16"/>
          <ac:picMkLst>
            <pc:docMk/>
            <pc:sldMk cId="0" sldId="261"/>
            <ac:picMk id="4" creationId="{C701FFB6-30F6-EE90-64EF-2D5482EC4FF5}"/>
          </ac:picMkLst>
        </pc:picChg>
        <pc:picChg chg="add mod modCrop">
          <ac:chgData name="Timothy Martin" userId="S::timmartin@my365.bellevue.edu::caba8769-0f7e-4097-9511-4535acc82781" providerId="AD" clId="Web-{1B16F3F8-0C47-0515-822C-FD349A0FC68B}" dt="2026-07-31T16:48:30.254" v="20" actId="1076"/>
          <ac:picMkLst>
            <pc:docMk/>
            <pc:sldMk cId="0" sldId="261"/>
            <ac:picMk id="8" creationId="{F060C501-ABC4-4BB2-7881-5D65C5682FF6}"/>
          </ac:picMkLst>
        </pc:picChg>
      </pc:sldChg>
      <pc:sldChg chg="addSp delSp modSp">
        <pc:chgData name="Timothy Martin" userId="S::timmartin@my365.bellevue.edu::caba8769-0f7e-4097-9511-4535acc82781" providerId="AD" clId="Web-{1B16F3F8-0C47-0515-822C-FD349A0FC68B}" dt="2026-07-31T16:50:13.489" v="31" actId="1076"/>
        <pc:sldMkLst>
          <pc:docMk/>
          <pc:sldMk cId="0" sldId="262"/>
        </pc:sldMkLst>
        <pc:spChg chg="mod">
          <ac:chgData name="Timothy Martin" userId="S::timmartin@my365.bellevue.edu::caba8769-0f7e-4097-9511-4535acc82781" providerId="AD" clId="Web-{1B16F3F8-0C47-0515-822C-FD349A0FC68B}" dt="2026-07-31T16:49:31.926" v="27" actId="1076"/>
          <ac:spMkLst>
            <pc:docMk/>
            <pc:sldMk cId="0" sldId="262"/>
            <ac:spMk id="14" creationId="{042574B4-342D-420D-C345-4B13B6B27778}"/>
          </ac:spMkLst>
        </pc:spChg>
        <pc:picChg chg="del">
          <ac:chgData name="Timothy Martin" userId="S::timmartin@my365.bellevue.edu::caba8769-0f7e-4097-9511-4535acc82781" providerId="AD" clId="Web-{1B16F3F8-0C47-0515-822C-FD349A0FC68B}" dt="2026-07-31T16:49:10.020" v="24"/>
          <ac:picMkLst>
            <pc:docMk/>
            <pc:sldMk cId="0" sldId="262"/>
            <ac:picMk id="4" creationId="{772C091D-CA70-8B19-121A-50E3627F488D}"/>
          </ac:picMkLst>
        </pc:picChg>
        <pc:picChg chg="add mod modCrop">
          <ac:chgData name="Timothy Martin" userId="S::timmartin@my365.bellevue.edu::caba8769-0f7e-4097-9511-4535acc82781" providerId="AD" clId="Web-{1B16F3F8-0C47-0515-822C-FD349A0FC68B}" dt="2026-07-31T16:50:13.489" v="31" actId="1076"/>
          <ac:picMkLst>
            <pc:docMk/>
            <pc:sldMk cId="0" sldId="262"/>
            <ac:picMk id="8" creationId="{FDC7F23A-C332-CB88-43A7-2D6643A215C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26443" y="1122363"/>
            <a:ext cx="5691116" cy="2621154"/>
          </a:xfrm>
        </p:spPr>
        <p:txBody>
          <a:bodyPr anchor="b">
            <a:normAutofit/>
          </a:bodyPr>
          <a:lstStyle>
            <a:lvl1pPr algn="ctr">
              <a:defRPr sz="5333"/>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726443" y="3843709"/>
            <a:ext cx="5691116" cy="1414091"/>
          </a:xfrm>
        </p:spPr>
        <p:txBody>
          <a:bodyPr>
            <a:normAutofit/>
          </a:bodyPr>
          <a:lstStyle>
            <a:lvl1pPr marL="0" indent="0" algn="ctr">
              <a:buNone/>
              <a:defRPr sz="2400"/>
            </a:lvl1pPr>
            <a:lvl2pPr marL="609585" indent="0" algn="ctr">
              <a:buNone/>
              <a:defRPr sz="240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dirty="0"/>
              <a:t>7/31/2026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722996418"/>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FigureOut">
              <a:rPr lang="en-US" dirty="0"/>
              <a:t>7/31/2026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021037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52536" y="553617"/>
            <a:ext cx="6204855" cy="4008859"/>
          </a:xfrm>
        </p:spPr>
        <p:txBody>
          <a:bodyPr anchor="t">
            <a:normAutofit/>
          </a:bodyPr>
          <a:lstStyle>
            <a:lvl1pPr>
              <a:defRPr sz="7200" cap="all" baseline="0"/>
            </a:lvl1pPr>
          </a:lstStyle>
          <a:p>
            <a:r>
              <a:rPr lang="en-US" dirty="0"/>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52535" y="4589464"/>
            <a:ext cx="6204855" cy="1384617"/>
          </a:xfrm>
        </p:spPr>
        <p:txBody>
          <a:bodyPr anchor="b">
            <a:normAutofit/>
          </a:bodyPr>
          <a:lstStyle>
            <a:lvl1pPr marL="0" indent="0">
              <a:buNone/>
              <a:defRPr sz="2667">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FigureOut">
              <a:rPr lang="en-US" dirty="0"/>
              <a:t>7/31/2026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77011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9486" y="548640"/>
            <a:ext cx="8055864" cy="113225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459486" y="1825625"/>
            <a:ext cx="38862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4629150" y="1825625"/>
            <a:ext cx="38862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FigureOut">
              <a:rPr lang="en-US" dirty="0"/>
              <a:t>7/31/2026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141229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200" y="547396"/>
            <a:ext cx="8059341"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1" y="1685735"/>
            <a:ext cx="3868340" cy="559834"/>
          </a:xfrm>
        </p:spPr>
        <p:txBody>
          <a:bodyPr anchor="b">
            <a:normAutofit/>
          </a:bodyPr>
          <a:lstStyle>
            <a:lvl1pPr marL="0" indent="0">
              <a:lnSpc>
                <a:spcPct val="90000"/>
              </a:lnSpc>
              <a:buNone/>
              <a:defRPr sz="2667"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457201" y="2386895"/>
            <a:ext cx="3868340" cy="37650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4629150" y="1685735"/>
            <a:ext cx="3887391" cy="559834"/>
          </a:xfrm>
        </p:spPr>
        <p:txBody>
          <a:bodyPr anchor="b">
            <a:normAutofit/>
          </a:bodyPr>
          <a:lstStyle>
            <a:lvl1pPr marL="0" indent="0">
              <a:lnSpc>
                <a:spcPct val="90000"/>
              </a:lnSpc>
              <a:buNone/>
              <a:defRPr sz="2667"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4629150" y="2386895"/>
            <a:ext cx="3887392" cy="37650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FigureOut">
              <a:rPr lang="en-US" dirty="0"/>
              <a:t>7/31/2026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885193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FigureOut">
              <a:rPr lang="en-US" dirty="0"/>
              <a:t>7/31/2026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927997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FigureOut">
              <a:rPr lang="en-US" dirty="0"/>
              <a:t>7/31/2026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561582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47870" y="553617"/>
            <a:ext cx="2696726" cy="1757505"/>
          </a:xfrm>
        </p:spPr>
        <p:txBody>
          <a:bodyPr anchor="t">
            <a:normAutofit/>
          </a:bodyPr>
          <a:lstStyle>
            <a:lvl1pPr>
              <a:defRPr sz="3733"/>
            </a:lvl1pPr>
          </a:lstStyle>
          <a:p>
            <a:r>
              <a:rPr lang="en-US" dirty="0"/>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3851031" y="553616"/>
            <a:ext cx="4709806" cy="5486400"/>
          </a:xfrm>
        </p:spPr>
        <p:txBody>
          <a:bodyPr>
            <a:normAutofit/>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47870" y="2311122"/>
            <a:ext cx="2696726" cy="3728895"/>
          </a:xfrm>
        </p:spPr>
        <p:txBody>
          <a:bodyPr anchor="t">
            <a:normAutofit/>
          </a:bodyPr>
          <a:lstStyle>
            <a:lvl1pPr marL="0" indent="0">
              <a:buNone/>
              <a:defRPr sz="2400"/>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dirty="0"/>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FigureOut">
              <a:rPr lang="en-US" dirty="0"/>
              <a:t>7/31/2026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535279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45770" y="557785"/>
            <a:ext cx="2696726" cy="2212313"/>
          </a:xfrm>
        </p:spPr>
        <p:txBody>
          <a:bodyPr anchor="t">
            <a:normAutofit/>
          </a:bodyPr>
          <a:lstStyle>
            <a:lvl1pPr>
              <a:defRPr sz="3733"/>
            </a:lvl1pPr>
          </a:lstStyle>
          <a:p>
            <a:r>
              <a:rPr lang="en-US" dirty="0"/>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p:nvPr>
        </p:nvSpPr>
        <p:spPr>
          <a:xfrm>
            <a:off x="3797490" y="657103"/>
            <a:ext cx="4862765" cy="5555904"/>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1" y="2826137"/>
            <a:ext cx="2689190" cy="3434638"/>
          </a:xfrm>
        </p:spPr>
        <p:txBody>
          <a:bodyPr anchor="b"/>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dirty="0"/>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FigureOut">
              <a:rPr lang="en-US" dirty="0"/>
              <a:t>7/31/2026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962151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459486" y="548640"/>
            <a:ext cx="7886700" cy="1132258"/>
          </a:xfrm>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459486" y="1680899"/>
            <a:ext cx="7886700" cy="44960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FigureOut">
              <a:rPr lang="en-US" dirty="0"/>
              <a:t>7/31/2026</a:t>
            </a:fld>
            <a:endParaRPr lang="en-US" dirty="0"/>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030447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7226166" y="578497"/>
            <a:ext cx="1535278" cy="559846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628650" y="578498"/>
            <a:ext cx="6597516" cy="55984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FigureOut">
              <a:rPr lang="en-US" dirty="0"/>
              <a:t>7/31/2026</a:t>
            </a:fld>
            <a:endParaRPr lang="en-US" dirty="0"/>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641719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4E8"/>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9486" y="548640"/>
            <a:ext cx="7990184"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9486" y="1715532"/>
            <a:ext cx="7990184"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2870" y="6453003"/>
            <a:ext cx="2620736" cy="365125"/>
          </a:xfrm>
          <a:prstGeom prst="rect">
            <a:avLst/>
          </a:prstGeom>
        </p:spPr>
        <p:txBody>
          <a:bodyPr vert="horz" lIns="91440" tIns="45720" rIns="91440" bIns="45720" rtlCol="0" anchor="ctr"/>
          <a:lstStyle>
            <a:lvl1pPr algn="l">
              <a:defRPr sz="1200">
                <a:solidFill>
                  <a:schemeClr val="tx1"/>
                </a:solidFill>
              </a:defRPr>
            </a:lvl1pPr>
          </a:lstStyle>
          <a:p>
            <a:fld id="{3A332BE1-279E-4118-9FE3-7952B079A510}" type="datetimeFigureOut">
              <a:rPr lang="en-US" dirty="0"/>
              <a:t>7/31/2026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657391" y="6453003"/>
            <a:ext cx="2104054" cy="365125"/>
          </a:xfrm>
          <a:prstGeom prst="rect">
            <a:avLst/>
          </a:prstGeom>
        </p:spPr>
        <p:txBody>
          <a:bodyPr vert="horz" lIns="91440" tIns="45720" rIns="91440" bIns="45720" rtlCol="0" anchor="ctr"/>
          <a:lstStyle>
            <a:lvl1pPr algn="r">
              <a:defRPr sz="120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724122" y="6453003"/>
            <a:ext cx="321905" cy="365125"/>
          </a:xfrm>
          <a:prstGeom prst="rect">
            <a:avLst/>
          </a:prstGeom>
        </p:spPr>
        <p:txBody>
          <a:bodyPr vert="horz" lIns="91440" tIns="45720" rIns="91440" bIns="45720" rtlCol="0" anchor="ctr"/>
          <a:lstStyle>
            <a:lvl1pPr algn="r">
              <a:defRPr sz="1200">
                <a:solidFill>
                  <a:schemeClr val="tx1"/>
                </a:solidFill>
              </a:defRPr>
            </a:lvl1pPr>
          </a:lstStyle>
          <a:p>
            <a:fld id="{CC057153-B650-4DEB-B370-79DDCFDCE934}" type="slidenum">
              <a:rPr lang="en-US" dirty="0"/>
              <a:t>‹#›</a:t>
            </a:fld>
            <a:endParaRPr lang="en-US" dirty="0"/>
          </a:p>
        </p:txBody>
      </p:sp>
    </p:spTree>
    <p:extLst>
      <p:ext uri="{BB962C8B-B14F-4D97-AF65-F5344CB8AC3E}">
        <p14:creationId xmlns:p14="http://schemas.microsoft.com/office/powerpoint/2010/main" val="3640099255"/>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hf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6.xml"/><Relationship Id="rId4" Type="http://schemas.openxmlformats.org/officeDocument/2006/relationships/image" Target="../media/image1.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6.xml"/><Relationship Id="rId4" Type="http://schemas.openxmlformats.org/officeDocument/2006/relationships/image" Target="../media/image1.sv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6.xml"/><Relationship Id="rId4" Type="http://schemas.openxmlformats.org/officeDocument/2006/relationships/image" Target="../media/image1.sv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sv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sv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1.sv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9.xml"/><Relationship Id="rId5" Type="http://schemas.openxmlformats.org/officeDocument/2006/relationships/image" Target="../media/image5.png"/><Relationship Id="rId4" Type="http://schemas.openxmlformats.org/officeDocument/2006/relationships/image" Target="../media/image1.svg"/></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6.xml"/><Relationship Id="rId4" Type="http://schemas.openxmlformats.org/officeDocument/2006/relationships/image" Target="../media/image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descr="Grapes with solid fill">
            <a:extLst>
              <a:ext uri="{FF2B5EF4-FFF2-40B4-BE49-F238E27FC236}">
                <a16:creationId xmlns:a16="http://schemas.microsoft.com/office/drawing/2014/main" id="{95FB4387-51F0-50F4-6EAD-2946B9242C4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800097">
            <a:off x="1823302" y="-511993"/>
            <a:ext cx="8514351" cy="8514351"/>
          </a:xfrm>
          <a:prstGeom prst="rect">
            <a:avLst/>
          </a:prstGeom>
        </p:spPr>
      </p:pic>
      <p:sp>
        <p:nvSpPr>
          <p:cNvPr id="4" name="TextBox 3">
            <a:extLst>
              <a:ext uri="{FF2B5EF4-FFF2-40B4-BE49-F238E27FC236}">
                <a16:creationId xmlns:a16="http://schemas.microsoft.com/office/drawing/2014/main" id="{56F6992E-5FA3-255B-22A8-3D2C8F474FF9}"/>
              </a:ext>
            </a:extLst>
          </p:cNvPr>
          <p:cNvSpPr txBox="1"/>
          <p:nvPr/>
        </p:nvSpPr>
        <p:spPr>
          <a:xfrm>
            <a:off x="19945" y="0"/>
            <a:ext cx="9124055" cy="6858000"/>
          </a:xfrm>
          <a:prstGeom prst="rect">
            <a:avLst/>
          </a:prstGeom>
          <a:gradFill>
            <a:gsLst>
              <a:gs pos="34000">
                <a:srgbClr val="A4B199">
                  <a:alpha val="45154"/>
                </a:srgbClr>
              </a:gs>
              <a:gs pos="0">
                <a:srgbClr val="F8F4E8">
                  <a:alpha val="0"/>
                </a:srgbClr>
              </a:gs>
              <a:gs pos="80000">
                <a:srgbClr val="4F6D4A">
                  <a:alpha val="67389"/>
                </a:srgbClr>
              </a:gs>
            </a:gsLst>
            <a:lin ang="0" scaled="0"/>
          </a:gradFill>
        </p:spPr>
        <p:txBody>
          <a:bodyPr wrap="square" rtlCol="0">
            <a:spAutoFit/>
          </a:bodyPr>
          <a:lstStyle/>
          <a:p>
            <a:endParaRPr lang="en-US" dirty="0"/>
          </a:p>
        </p:txBody>
      </p:sp>
      <p:sp>
        <p:nvSpPr>
          <p:cNvPr id="2" name="Title 1"/>
          <p:cNvSpPr>
            <a:spLocks noGrp="1"/>
          </p:cNvSpPr>
          <p:nvPr>
            <p:ph type="ctrTitle"/>
          </p:nvPr>
        </p:nvSpPr>
        <p:spPr>
          <a:noFill/>
          <a:ln>
            <a:noFill/>
          </a:ln>
          <a:effectLst>
            <a:outerShdw blurRad="1270000" dist="38100" dir="2700000" algn="tl" rotWithShape="0">
              <a:prstClr val="black">
                <a:alpha val="40000"/>
              </a:prstClr>
            </a:outerShdw>
          </a:effectLst>
        </p:spPr>
        <p:txBody>
          <a:bodyPr/>
          <a:lstStyle/>
          <a:p>
            <a:r>
              <a:rPr sz="5300" dirty="0">
                <a:ln>
                  <a:solidFill>
                    <a:srgbClr val="B8860B">
                      <a:alpha val="48420"/>
                    </a:srgbClr>
                  </a:solidFill>
                </a:ln>
                <a:solidFill>
                  <a:srgbClr val="5C1B2B"/>
                </a:solidFill>
                <a:effectLst>
                  <a:outerShdw blurRad="50800" dist="38100" dir="2700000" algn="tl" rotWithShape="0">
                    <a:prstClr val="black">
                      <a:alpha val="40000"/>
                    </a:prstClr>
                  </a:outerShdw>
                </a:effectLst>
              </a:rPr>
              <a:t>Bacchus</a:t>
            </a:r>
            <a:r>
              <a:rPr sz="5300" dirty="0">
                <a:ln>
                  <a:solidFill>
                    <a:srgbClr val="B8860B">
                      <a:alpha val="48420"/>
                    </a:srgbClr>
                  </a:solidFill>
                </a:ln>
                <a:effectLst>
                  <a:outerShdw blurRad="50800" dist="38100" dir="2700000" algn="tl" rotWithShape="0">
                    <a:prstClr val="black">
                      <a:alpha val="40000"/>
                    </a:prstClr>
                  </a:outerShdw>
                </a:effectLst>
              </a:rPr>
              <a:t> </a:t>
            </a:r>
            <a:r>
              <a:rPr sz="5300" dirty="0">
                <a:ln>
                  <a:solidFill>
                    <a:srgbClr val="B8860B">
                      <a:alpha val="48420"/>
                    </a:srgbClr>
                  </a:solidFill>
                </a:ln>
                <a:solidFill>
                  <a:srgbClr val="5C1B2B"/>
                </a:solidFill>
                <a:effectLst>
                  <a:outerShdw blurRad="50800" dist="38100" dir="2700000" algn="tl" rotWithShape="0">
                    <a:prstClr val="black">
                      <a:alpha val="40000"/>
                    </a:prstClr>
                  </a:outerShdw>
                </a:effectLst>
              </a:rPr>
              <a:t>Winery Database Design Project</a:t>
            </a:r>
            <a:endParaRPr lang="en-US" sz="5300" dirty="0">
              <a:ln>
                <a:solidFill>
                  <a:srgbClr val="B8860B">
                    <a:alpha val="48420"/>
                  </a:srgbClr>
                </a:solidFill>
              </a:ln>
              <a:solidFill>
                <a:srgbClr val="5C1B2B"/>
              </a:solidFill>
              <a:effectLst>
                <a:outerShdw blurRad="50800" dist="38100" dir="2700000" algn="tl" rotWithShape="0">
                  <a:prstClr val="black">
                    <a:alpha val="40000"/>
                  </a:prstClr>
                </a:outerShdw>
              </a:effectLst>
            </a:endParaRPr>
          </a:p>
        </p:txBody>
      </p:sp>
      <p:sp>
        <p:nvSpPr>
          <p:cNvPr id="3" name="Subtitle 2"/>
          <p:cNvSpPr>
            <a:spLocks noGrp="1"/>
          </p:cNvSpPr>
          <p:nvPr>
            <p:ph type="subTitle" idx="1"/>
          </p:nvPr>
        </p:nvSpPr>
        <p:spPr>
          <a:xfrm>
            <a:off x="1724707" y="3743517"/>
            <a:ext cx="5691116" cy="2621154"/>
          </a:xfrm>
          <a:noFill/>
          <a:ln>
            <a:noFill/>
          </a:ln>
          <a:effectLst>
            <a:outerShdw blurRad="1270000" dist="38100" dir="2700000" algn="tl" rotWithShape="0">
              <a:prstClr val="black">
                <a:alpha val="40000"/>
              </a:prstClr>
            </a:outerShdw>
          </a:effectLst>
        </p:spPr>
        <p:txBody>
          <a:bodyPr vert="horz" lIns="91440" tIns="45720" rIns="91440" bIns="45720" rtlCol="0" anchor="t">
            <a:normAutofit fontScale="92500" lnSpcReduction="10000"/>
          </a:bodyPr>
          <a:lstStyle/>
          <a:p>
            <a:r>
              <a:rPr sz="1500" b="1" dirty="0">
                <a:effectLst>
                  <a:outerShdw blurRad="63500" sx="102000" sy="102000" algn="ctr" rotWithShape="0">
                    <a:prstClr val="black">
                      <a:alpha val="40000"/>
                    </a:prstClr>
                  </a:outerShdw>
                </a:effectLst>
              </a:rPr>
              <a:t>Bellevue University</a:t>
            </a:r>
          </a:p>
          <a:p>
            <a:r>
              <a:rPr sz="1500" b="1" dirty="0">
                <a:effectLst>
                  <a:outerShdw blurRad="63500" sx="102000" sy="102000" algn="ctr" rotWithShape="0">
                    <a:prstClr val="black">
                      <a:alpha val="40000"/>
                    </a:prstClr>
                  </a:outerShdw>
                </a:effectLst>
              </a:rPr>
              <a:t>CSD-310 Database Development and Use</a:t>
            </a:r>
          </a:p>
          <a:p>
            <a:r>
              <a:rPr sz="1500" b="1" dirty="0">
                <a:effectLst>
                  <a:outerShdw blurRad="63500" sx="102000" sy="102000" algn="ctr" rotWithShape="0">
                    <a:prstClr val="black">
                      <a:alpha val="40000"/>
                    </a:prstClr>
                  </a:outerShdw>
                </a:effectLst>
              </a:rPr>
              <a:t>Group Members:</a:t>
            </a:r>
          </a:p>
          <a:p>
            <a:r>
              <a:rPr sz="1500" b="1" dirty="0">
                <a:effectLst>
                  <a:outerShdw blurRad="63500" sx="102000" sy="102000" algn="ctr" rotWithShape="0">
                    <a:prstClr val="black">
                      <a:alpha val="40000"/>
                    </a:prstClr>
                  </a:outerShdw>
                </a:effectLst>
              </a:rPr>
              <a:t>Jonathan</a:t>
            </a:r>
            <a:r>
              <a:rPr lang="en-US" sz="1500" b="1" dirty="0">
                <a:effectLst>
                  <a:outerShdw blurRad="63500" sx="102000" sy="102000" algn="ctr" rotWithShape="0">
                    <a:prstClr val="black">
                      <a:alpha val="40000"/>
                    </a:prstClr>
                  </a:outerShdw>
                </a:effectLst>
              </a:rPr>
              <a:t> Walmsley</a:t>
            </a:r>
            <a:endParaRPr sz="1500" b="1" dirty="0">
              <a:effectLst>
                <a:outerShdw blurRad="63500" sx="102000" sy="102000" algn="ctr" rotWithShape="0">
                  <a:prstClr val="black">
                    <a:alpha val="40000"/>
                  </a:prstClr>
                </a:outerShdw>
              </a:effectLst>
            </a:endParaRPr>
          </a:p>
          <a:p>
            <a:r>
              <a:rPr sz="1500" b="1" dirty="0">
                <a:effectLst>
                  <a:outerShdw blurRad="63500" sx="102000" sy="102000" algn="ctr" rotWithShape="0">
                    <a:prstClr val="black">
                      <a:alpha val="40000"/>
                    </a:prstClr>
                  </a:outerShdw>
                </a:effectLst>
              </a:rPr>
              <a:t>T</a:t>
            </a:r>
            <a:r>
              <a:rPr lang="en-US" sz="1500" b="1" dirty="0">
                <a:effectLst>
                  <a:outerShdw blurRad="63500" sx="102000" sy="102000" algn="ctr" rotWithShape="0">
                    <a:prstClr val="black">
                      <a:alpha val="40000"/>
                    </a:prstClr>
                  </a:outerShdw>
                </a:effectLst>
              </a:rPr>
              <a:t>imothy</a:t>
            </a:r>
            <a:r>
              <a:rPr sz="1500" b="1" dirty="0">
                <a:effectLst>
                  <a:outerShdw blurRad="63500" sx="102000" sy="102000" algn="ctr" rotWithShape="0">
                    <a:prstClr val="black">
                      <a:alpha val="40000"/>
                    </a:prstClr>
                  </a:outerShdw>
                </a:effectLst>
              </a:rPr>
              <a:t> Martin</a:t>
            </a:r>
          </a:p>
          <a:p>
            <a:r>
              <a:rPr lang="en-US" sz="1500" b="1" dirty="0">
                <a:effectLst>
                  <a:outerShdw blurRad="63500" sx="102000" sy="102000" algn="ctr" rotWithShape="0">
                    <a:prstClr val="black">
                      <a:alpha val="40000"/>
                    </a:prstClr>
                  </a:outerShdw>
                </a:effectLst>
              </a:rPr>
              <a:t>Roxanne Buenaventura</a:t>
            </a:r>
          </a:p>
          <a:p>
            <a:r>
              <a:rPr lang="en-US" sz="1500" b="1" dirty="0">
                <a:effectLst>
                  <a:outerShdw blurRad="63500" sx="102000" sy="102000" algn="ctr" rotWithShape="0">
                    <a:prstClr val="black">
                      <a:alpha val="40000"/>
                    </a:prstClr>
                  </a:outerShdw>
                </a:effectLst>
              </a:rPr>
              <a:t>Peter </a:t>
            </a:r>
            <a:r>
              <a:rPr lang="en-US" sz="1500" b="1" dirty="0" err="1">
                <a:effectLst>
                  <a:outerShdw blurRad="63500" sx="102000" sy="102000" algn="ctr" rotWithShape="0">
                    <a:prstClr val="black">
                      <a:alpha val="40000"/>
                    </a:prstClr>
                  </a:outerShdw>
                </a:effectLst>
              </a:rPr>
              <a:t>Ddamulira</a:t>
            </a:r>
            <a:endParaRPr sz="700" b="1" dirty="0">
              <a:effectLst>
                <a:outerShdw blurRad="63500" sx="102000" sy="102000" algn="ctr" rotWithShape="0">
                  <a:prstClr val="black">
                    <a:alpha val="40000"/>
                  </a:prstClr>
                </a:outerShdw>
              </a:effectLst>
            </a:endParaRPr>
          </a:p>
        </p:txBody>
      </p:sp>
      <p:pic>
        <p:nvPicPr>
          <p:cNvPr id="7" name="Graphic 6" descr="Wine with solid fill">
            <a:extLst>
              <a:ext uri="{FF2B5EF4-FFF2-40B4-BE49-F238E27FC236}">
                <a16:creationId xmlns:a16="http://schemas.microsoft.com/office/drawing/2014/main" id="{54607E5D-B1A4-D511-75D3-5279C72E36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634016">
            <a:off x="-355895" y="3134548"/>
            <a:ext cx="3717902" cy="3717902"/>
          </a:xfrm>
          <a:prstGeom prst="rect">
            <a:avLst/>
          </a:prstGeom>
        </p:spPr>
      </p:pic>
      <p:pic>
        <p:nvPicPr>
          <p:cNvPr id="9" name="Graphic 8" descr="Bottle with solid fill">
            <a:extLst>
              <a:ext uri="{FF2B5EF4-FFF2-40B4-BE49-F238E27FC236}">
                <a16:creationId xmlns:a16="http://schemas.microsoft.com/office/drawing/2014/main" id="{6B364C7B-EA4C-2F02-BCAB-038E191233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68260">
            <a:off x="-185035" y="3069931"/>
            <a:ext cx="3987179" cy="398717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descr="Wine with solid fill">
            <a:extLst>
              <a:ext uri="{FF2B5EF4-FFF2-40B4-BE49-F238E27FC236}">
                <a16:creationId xmlns:a16="http://schemas.microsoft.com/office/drawing/2014/main" id="{61D79C1C-EFD7-28A2-23F0-1DDA8A2807E7}"/>
              </a:ext>
            </a:extLst>
          </p:cNvPr>
          <p:cNvPicPr>
            <a:picLocks noChangeAspect="1"/>
          </p:cNvPicPr>
          <p:nvPr/>
        </p:nvPicPr>
        <p:blipFill>
          <a:blip>
            <a:alphaModFix amt="30000"/>
            <a:extLst>
              <a:ext uri="{96DAC541-7B7A-43D3-8B79-37D633B846F1}">
                <asvg:svgBlip xmlns:asvg="http://schemas.microsoft.com/office/drawing/2016/SVG/main" r:embed="rId2"/>
              </a:ext>
            </a:extLst>
          </a:blip>
          <a:stretch>
            <a:fillRect/>
          </a:stretch>
        </p:blipFill>
        <p:spPr>
          <a:xfrm rot="634016">
            <a:off x="577327" y="-256011"/>
            <a:ext cx="6937960" cy="6937960"/>
          </a:xfrm>
          <a:prstGeom prst="rect">
            <a:avLst/>
          </a:prstGeom>
        </p:spPr>
      </p:pic>
      <p:pic>
        <p:nvPicPr>
          <p:cNvPr id="8" name="Graphic 7" descr="Bottle with solid fill">
            <a:extLst>
              <a:ext uri="{FF2B5EF4-FFF2-40B4-BE49-F238E27FC236}">
                <a16:creationId xmlns:a16="http://schemas.microsoft.com/office/drawing/2014/main" id="{458AB0FB-A328-D089-2C02-481DECFDB301}"/>
              </a:ext>
            </a:extLst>
          </p:cNvPr>
          <p:cNvPicPr>
            <a:picLocks noChangeAspect="1"/>
          </p:cNvPicPr>
          <p:nvPr/>
        </p:nvPicPr>
        <p:blipFill>
          <a:blip>
            <a:alphaModFix amt="30000"/>
            <a:extLst>
              <a:ext uri="{96DAC541-7B7A-43D3-8B79-37D633B846F1}">
                <asvg:svgBlip xmlns:asvg="http://schemas.microsoft.com/office/drawing/2016/SVG/main" r:embed="rId3"/>
              </a:ext>
            </a:extLst>
          </a:blip>
          <a:stretch>
            <a:fillRect/>
          </a:stretch>
        </p:blipFill>
        <p:spPr>
          <a:xfrm rot="19268260">
            <a:off x="379128" y="-454210"/>
            <a:ext cx="7334358" cy="7334358"/>
          </a:xfrm>
          <a:prstGeom prst="rect">
            <a:avLst/>
          </a:prstGeom>
        </p:spPr>
      </p:pic>
      <p:sp>
        <p:nvSpPr>
          <p:cNvPr id="2" name="Title 1"/>
          <p:cNvSpPr>
            <a:spLocks noGrp="1"/>
          </p:cNvSpPr>
          <p:nvPr>
            <p:ph type="title"/>
          </p:nvPr>
        </p:nvSpPr>
        <p:spPr/>
        <p:txBody>
          <a:bodyPr>
            <a:normAutofit/>
          </a:bodyPr>
          <a:lstStyle/>
          <a:p>
            <a:r>
              <a:rPr dirty="0">
                <a:ln>
                  <a:solidFill>
                    <a:srgbClr val="B8860B">
                      <a:alpha val="48420"/>
                    </a:srgbClr>
                  </a:solidFill>
                </a:ln>
                <a:solidFill>
                  <a:srgbClr val="5C1B2B"/>
                </a:solidFill>
              </a:rPr>
              <a:t>Case Study Overview</a:t>
            </a:r>
            <a:br>
              <a:rPr lang="en-US" dirty="0">
                <a:ln>
                  <a:solidFill>
                    <a:srgbClr val="B8860B">
                      <a:alpha val="48420"/>
                    </a:srgbClr>
                  </a:solidFill>
                </a:ln>
                <a:solidFill>
                  <a:srgbClr val="5C1B2B"/>
                </a:solidFill>
              </a:rPr>
            </a:br>
            <a:r>
              <a:rPr lang="en-US" dirty="0">
                <a:ln>
                  <a:solidFill>
                    <a:srgbClr val="4F6D4A">
                      <a:alpha val="48000"/>
                    </a:srgbClr>
                  </a:solidFill>
                </a:ln>
                <a:solidFill>
                  <a:srgbClr val="4F6D4A"/>
                </a:solidFill>
              </a:rPr>
              <a:t>_______________</a:t>
            </a:r>
          </a:p>
        </p:txBody>
      </p:sp>
      <p:sp>
        <p:nvSpPr>
          <p:cNvPr id="3" name="TextBox 2"/>
          <p:cNvSpPr txBox="1"/>
          <p:nvPr/>
        </p:nvSpPr>
        <p:spPr>
          <a:xfrm>
            <a:off x="630774" y="1680898"/>
            <a:ext cx="7321580" cy="3693319"/>
          </a:xfrm>
          <a:prstGeom prst="rect">
            <a:avLst/>
          </a:prstGeom>
          <a:noFill/>
        </p:spPr>
        <p:txBody>
          <a:bodyPr wrap="square">
            <a:spAutoFit/>
          </a:bodyPr>
          <a:lstStyle/>
          <a:p>
            <a:r>
              <a:rPr lang="en-US" b="1" u="sng" dirty="0"/>
              <a:t>Background</a:t>
            </a:r>
            <a:endParaRPr lang="en-US" u="sng" dirty="0"/>
          </a:p>
          <a:p>
            <a:pPr lvl="0"/>
            <a:r>
              <a:rPr lang="en-US" dirty="0"/>
              <a:t>Bacchus Winery produces several varieties of wine and manages daily operations involving suppliers, inventory, employees, production, and distributors.</a:t>
            </a:r>
          </a:p>
          <a:p>
            <a:pPr lvl="0"/>
            <a:r>
              <a:rPr lang="en-US" dirty="0"/>
              <a:t>The winery required a centralized database to organize business information and improve operational efficiency.</a:t>
            </a:r>
          </a:p>
          <a:p>
            <a:r>
              <a:rPr lang="en-US" b="1" u="sng" dirty="0"/>
              <a:t>Project Objective</a:t>
            </a:r>
            <a:endParaRPr lang="en-US" u="sng" dirty="0"/>
          </a:p>
          <a:p>
            <a:pPr lvl="0"/>
            <a:r>
              <a:rPr lang="en-US" dirty="0"/>
              <a:t>Design a normalized relational database that accurately represents the winery’s business processes.</a:t>
            </a:r>
          </a:p>
          <a:p>
            <a:pPr lvl="0"/>
            <a:r>
              <a:rPr lang="en-US" dirty="0"/>
              <a:t>Reduce duplicate data while improving data integrity and reporting capabilities.</a:t>
            </a:r>
          </a:p>
          <a:p>
            <a:pPr lvl="0"/>
            <a:r>
              <a:rPr lang="en-US" dirty="0"/>
              <a:t>Support informed business decisions through efficient data management and reporting.</a:t>
            </a:r>
          </a:p>
        </p:txBody>
      </p:sp>
      <p:pic>
        <p:nvPicPr>
          <p:cNvPr id="4" name="Graphic 3" descr="Grapes with solid fill">
            <a:extLst>
              <a:ext uri="{FF2B5EF4-FFF2-40B4-BE49-F238E27FC236}">
                <a16:creationId xmlns:a16="http://schemas.microsoft.com/office/drawing/2014/main" id="{32459887-B9C3-DE75-E68B-D63B68D6AC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00097">
            <a:off x="7092505" y="4780888"/>
            <a:ext cx="1719698" cy="171969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Wine with solid fill">
            <a:extLst>
              <a:ext uri="{FF2B5EF4-FFF2-40B4-BE49-F238E27FC236}">
                <a16:creationId xmlns:a16="http://schemas.microsoft.com/office/drawing/2014/main" id="{569A39D7-528D-8E7E-ED25-E717DE8E33D2}"/>
              </a:ext>
            </a:extLst>
          </p:cNvPr>
          <p:cNvPicPr>
            <a:picLocks noChangeAspect="1"/>
          </p:cNvPicPr>
          <p:nvPr/>
        </p:nvPicPr>
        <p:blipFill>
          <a:blip>
            <a:alphaModFix amt="30000"/>
            <a:extLst>
              <a:ext uri="{96DAC541-7B7A-43D3-8B79-37D633B846F1}">
                <asvg:svgBlip xmlns:asvg="http://schemas.microsoft.com/office/drawing/2016/SVG/main" r:embed="rId2"/>
              </a:ext>
            </a:extLst>
          </a:blip>
          <a:stretch>
            <a:fillRect/>
          </a:stretch>
        </p:blipFill>
        <p:spPr>
          <a:xfrm rot="634016">
            <a:off x="431553" y="-401785"/>
            <a:ext cx="6937960" cy="6937960"/>
          </a:xfrm>
          <a:prstGeom prst="rect">
            <a:avLst/>
          </a:prstGeom>
        </p:spPr>
      </p:pic>
      <p:pic>
        <p:nvPicPr>
          <p:cNvPr id="5" name="Graphic 4" descr="Bottle with solid fill">
            <a:extLst>
              <a:ext uri="{FF2B5EF4-FFF2-40B4-BE49-F238E27FC236}">
                <a16:creationId xmlns:a16="http://schemas.microsoft.com/office/drawing/2014/main" id="{F9F21D2F-9ACE-1B21-BFE6-2C5010A0C147}"/>
              </a:ext>
            </a:extLst>
          </p:cNvPr>
          <p:cNvPicPr>
            <a:picLocks noChangeAspect="1"/>
          </p:cNvPicPr>
          <p:nvPr/>
        </p:nvPicPr>
        <p:blipFill>
          <a:blip>
            <a:alphaModFix amt="30000"/>
            <a:extLst>
              <a:ext uri="{96DAC541-7B7A-43D3-8B79-37D633B846F1}">
                <asvg:svgBlip xmlns:asvg="http://schemas.microsoft.com/office/drawing/2016/SVG/main" r:embed="rId3"/>
              </a:ext>
            </a:extLst>
          </a:blip>
          <a:stretch>
            <a:fillRect/>
          </a:stretch>
        </p:blipFill>
        <p:spPr>
          <a:xfrm rot="19268260">
            <a:off x="320375" y="-440958"/>
            <a:ext cx="7334358" cy="7334358"/>
          </a:xfrm>
          <a:prstGeom prst="rect">
            <a:avLst/>
          </a:prstGeom>
        </p:spPr>
      </p:pic>
      <p:sp>
        <p:nvSpPr>
          <p:cNvPr id="2" name="Title 1"/>
          <p:cNvSpPr>
            <a:spLocks noGrp="1"/>
          </p:cNvSpPr>
          <p:nvPr>
            <p:ph type="title"/>
          </p:nvPr>
        </p:nvSpPr>
        <p:spPr/>
        <p:txBody>
          <a:bodyPr>
            <a:normAutofit/>
          </a:bodyPr>
          <a:lstStyle/>
          <a:p>
            <a:r>
              <a:rPr dirty="0">
                <a:ln>
                  <a:solidFill>
                    <a:srgbClr val="B8860B">
                      <a:alpha val="48420"/>
                    </a:srgbClr>
                  </a:solidFill>
                </a:ln>
                <a:solidFill>
                  <a:srgbClr val="5C1B2B"/>
                </a:solidFill>
              </a:rPr>
              <a:t>Business Rule</a:t>
            </a:r>
            <a:r>
              <a:rPr lang="en-US" dirty="0">
                <a:ln>
                  <a:solidFill>
                    <a:srgbClr val="B8860B">
                      <a:alpha val="48420"/>
                    </a:srgbClr>
                  </a:solidFill>
                </a:ln>
                <a:solidFill>
                  <a:srgbClr val="5C1B2B"/>
                </a:solidFill>
              </a:rPr>
              <a:t>s: Operations</a:t>
            </a:r>
            <a:br>
              <a:rPr lang="en-US" dirty="0">
                <a:ln>
                  <a:solidFill>
                    <a:srgbClr val="B8860B">
                      <a:alpha val="48420"/>
                    </a:srgbClr>
                  </a:solidFill>
                </a:ln>
                <a:solidFill>
                  <a:srgbClr val="5C1B2B"/>
                </a:solidFill>
              </a:rPr>
            </a:br>
            <a:r>
              <a:rPr lang="en-US" dirty="0">
                <a:ln>
                  <a:solidFill>
                    <a:srgbClr val="B8860B">
                      <a:alpha val="48420"/>
                    </a:srgbClr>
                  </a:solidFill>
                </a:ln>
                <a:solidFill>
                  <a:srgbClr val="4F6D4A"/>
                </a:solidFill>
              </a:rPr>
              <a:t>_______________</a:t>
            </a:r>
            <a:endParaRPr dirty="0">
              <a:ln>
                <a:solidFill>
                  <a:srgbClr val="B8860B">
                    <a:alpha val="48420"/>
                  </a:srgbClr>
                </a:solidFill>
              </a:ln>
              <a:solidFill>
                <a:srgbClr val="5C1B2B"/>
              </a:solidFill>
            </a:endParaRPr>
          </a:p>
        </p:txBody>
      </p:sp>
      <p:sp>
        <p:nvSpPr>
          <p:cNvPr id="3" name="TextBox 2"/>
          <p:cNvSpPr txBox="1"/>
          <p:nvPr/>
        </p:nvSpPr>
        <p:spPr>
          <a:xfrm>
            <a:off x="820833" y="1680898"/>
            <a:ext cx="7502333" cy="4462760"/>
          </a:xfrm>
          <a:prstGeom prst="rect">
            <a:avLst/>
          </a:prstGeom>
          <a:noFill/>
        </p:spPr>
        <p:txBody>
          <a:bodyPr wrap="square">
            <a:spAutoFit/>
          </a:bodyPr>
          <a:lstStyle/>
          <a:p>
            <a:pPr fontAlgn="base"/>
            <a:r>
              <a:rPr lang="en-US" sz="1600" b="1" u="sng" dirty="0"/>
              <a:t>Supplier and Delivery Rules</a:t>
            </a:r>
            <a:r>
              <a:rPr lang="en-US" sz="1600" u="sng" dirty="0"/>
              <a:t> </a:t>
            </a:r>
          </a:p>
          <a:p>
            <a:pPr lvl="0" fontAlgn="base"/>
            <a:r>
              <a:rPr lang="en-US" sz="1600" dirty="0"/>
              <a:t>One supplier can have many deliveries. </a:t>
            </a:r>
          </a:p>
          <a:p>
            <a:pPr lvl="0" fontAlgn="base"/>
            <a:r>
              <a:rPr lang="en-US" sz="1600" dirty="0"/>
              <a:t>Each delivery comes from one supplier. </a:t>
            </a:r>
          </a:p>
          <a:p>
            <a:pPr lvl="0" fontAlgn="base"/>
            <a:r>
              <a:rPr lang="en-US" sz="1600" dirty="0"/>
              <a:t>One delivery can contain many inventory items. </a:t>
            </a:r>
          </a:p>
          <a:p>
            <a:pPr lvl="0" fontAlgn="base"/>
            <a:r>
              <a:rPr lang="en-US" sz="1600" dirty="0"/>
              <a:t>One inventory item can appear in many deliveries over time. </a:t>
            </a:r>
          </a:p>
          <a:p>
            <a:pPr fontAlgn="base"/>
            <a:r>
              <a:rPr lang="en-US" sz="1600" b="1" u="sng" dirty="0"/>
              <a:t>Inventory Rules</a:t>
            </a:r>
            <a:r>
              <a:rPr lang="en-US" sz="1600" u="sng" dirty="0"/>
              <a:t> </a:t>
            </a:r>
          </a:p>
          <a:p>
            <a:pPr lvl="0" fontAlgn="base"/>
            <a:r>
              <a:rPr lang="en-US" sz="1600" dirty="0"/>
              <a:t>Each inventory item has one inventory record. </a:t>
            </a:r>
          </a:p>
          <a:p>
            <a:pPr lvl="0" fontAlgn="base"/>
            <a:r>
              <a:rPr lang="en-US" sz="1600" dirty="0"/>
              <a:t>Each inventory item tracks the quantity received and current stock level. </a:t>
            </a:r>
          </a:p>
          <a:p>
            <a:pPr lvl="0" fontAlgn="base"/>
            <a:r>
              <a:rPr lang="en-US" sz="1600" dirty="0"/>
              <a:t>Inventory items include production supplies such as bottles, corks, labels, boxes, vats, and tubing. </a:t>
            </a:r>
          </a:p>
          <a:p>
            <a:pPr fontAlgn="base"/>
            <a:r>
              <a:rPr lang="en-US" sz="1600" b="1" u="sng" dirty="0"/>
              <a:t>Wine Distribution Rules</a:t>
            </a:r>
            <a:r>
              <a:rPr lang="en-US" sz="1600" u="sng" dirty="0"/>
              <a:t> </a:t>
            </a:r>
          </a:p>
          <a:p>
            <a:pPr lvl="0" fontAlgn="base"/>
            <a:r>
              <a:rPr lang="en-US" sz="1600" dirty="0"/>
              <a:t>One distributor can carry many wines. </a:t>
            </a:r>
          </a:p>
          <a:p>
            <a:pPr lvl="0" fontAlgn="base"/>
            <a:r>
              <a:rPr lang="en-US" sz="1600" dirty="0"/>
              <a:t>One wine can be carried by many distributors. </a:t>
            </a:r>
          </a:p>
          <a:p>
            <a:pPr lvl="0" fontAlgn="base"/>
            <a:r>
              <a:rPr lang="en-US" sz="1600" dirty="0"/>
              <a:t>Each shipment is sent to one distributor. </a:t>
            </a:r>
          </a:p>
          <a:p>
            <a:pPr lvl="0" fontAlgn="base"/>
            <a:r>
              <a:rPr lang="en-US" sz="1600" dirty="0"/>
              <a:t>One shipment can contain many wines. </a:t>
            </a:r>
          </a:p>
          <a:p>
            <a:pPr lvl="0" fontAlgn="base"/>
            <a:r>
              <a:rPr lang="en-US" sz="1600" dirty="0"/>
              <a:t>One wine can appear on many shipments. </a:t>
            </a:r>
          </a:p>
          <a:p>
            <a:pPr>
              <a:defRPr sz="2400"/>
            </a:pPr>
            <a:endParaRPr dirty="0"/>
          </a:p>
        </p:txBody>
      </p:sp>
      <p:pic>
        <p:nvPicPr>
          <p:cNvPr id="4" name="Graphic 3" descr="Grapes with solid fill">
            <a:extLst>
              <a:ext uri="{FF2B5EF4-FFF2-40B4-BE49-F238E27FC236}">
                <a16:creationId xmlns:a16="http://schemas.microsoft.com/office/drawing/2014/main" id="{EC70D3DD-CF97-5033-3508-56EAF5BB39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00097">
            <a:off x="7092505" y="4780888"/>
            <a:ext cx="1719698" cy="171969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19014-9FF2-9B5E-EDB4-E349AC31A437}"/>
            </a:ext>
          </a:extLst>
        </p:cNvPr>
        <p:cNvGrpSpPr/>
        <p:nvPr/>
      </p:nvGrpSpPr>
      <p:grpSpPr>
        <a:xfrm>
          <a:off x="0" y="0"/>
          <a:ext cx="0" cy="0"/>
          <a:chOff x="0" y="0"/>
          <a:chExt cx="0" cy="0"/>
        </a:xfrm>
      </p:grpSpPr>
      <p:pic>
        <p:nvPicPr>
          <p:cNvPr id="6" name="Graphic 5" descr="Wine with solid fill">
            <a:extLst>
              <a:ext uri="{FF2B5EF4-FFF2-40B4-BE49-F238E27FC236}">
                <a16:creationId xmlns:a16="http://schemas.microsoft.com/office/drawing/2014/main" id="{F780C7FA-A912-BD0F-2B55-B35C9D4F03C7}"/>
              </a:ext>
            </a:extLst>
          </p:cNvPr>
          <p:cNvPicPr>
            <a:picLocks noChangeAspect="1"/>
          </p:cNvPicPr>
          <p:nvPr/>
        </p:nvPicPr>
        <p:blipFill>
          <a:blip>
            <a:alphaModFix amt="30000"/>
            <a:extLst>
              <a:ext uri="{96DAC541-7B7A-43D3-8B79-37D633B846F1}">
                <asvg:svgBlip xmlns:asvg="http://schemas.microsoft.com/office/drawing/2016/SVG/main" r:embed="rId2"/>
              </a:ext>
            </a:extLst>
          </a:blip>
          <a:stretch>
            <a:fillRect/>
          </a:stretch>
        </p:blipFill>
        <p:spPr>
          <a:xfrm rot="634016">
            <a:off x="431553" y="-401785"/>
            <a:ext cx="6937960" cy="6937960"/>
          </a:xfrm>
          <a:prstGeom prst="rect">
            <a:avLst/>
          </a:prstGeom>
        </p:spPr>
      </p:pic>
      <p:pic>
        <p:nvPicPr>
          <p:cNvPr id="5" name="Graphic 4" descr="Bottle with solid fill">
            <a:extLst>
              <a:ext uri="{FF2B5EF4-FFF2-40B4-BE49-F238E27FC236}">
                <a16:creationId xmlns:a16="http://schemas.microsoft.com/office/drawing/2014/main" id="{60D439F7-9AD7-447D-3E32-E17854E5D76F}"/>
              </a:ext>
            </a:extLst>
          </p:cNvPr>
          <p:cNvPicPr>
            <a:picLocks noChangeAspect="1"/>
          </p:cNvPicPr>
          <p:nvPr/>
        </p:nvPicPr>
        <p:blipFill>
          <a:blip>
            <a:alphaModFix amt="30000"/>
            <a:extLst>
              <a:ext uri="{96DAC541-7B7A-43D3-8B79-37D633B846F1}">
                <asvg:svgBlip xmlns:asvg="http://schemas.microsoft.com/office/drawing/2016/SVG/main" r:embed="rId3"/>
              </a:ext>
            </a:extLst>
          </a:blip>
          <a:stretch>
            <a:fillRect/>
          </a:stretch>
        </p:blipFill>
        <p:spPr>
          <a:xfrm rot="19268260">
            <a:off x="320375" y="-440958"/>
            <a:ext cx="7334358" cy="7334358"/>
          </a:xfrm>
          <a:prstGeom prst="rect">
            <a:avLst/>
          </a:prstGeom>
        </p:spPr>
      </p:pic>
      <p:sp>
        <p:nvSpPr>
          <p:cNvPr id="2" name="Title 1">
            <a:extLst>
              <a:ext uri="{FF2B5EF4-FFF2-40B4-BE49-F238E27FC236}">
                <a16:creationId xmlns:a16="http://schemas.microsoft.com/office/drawing/2014/main" id="{1318BD37-E53E-F11D-4ACC-5A8848772012}"/>
              </a:ext>
            </a:extLst>
          </p:cNvPr>
          <p:cNvSpPr>
            <a:spLocks noGrp="1"/>
          </p:cNvSpPr>
          <p:nvPr>
            <p:ph type="title"/>
          </p:nvPr>
        </p:nvSpPr>
        <p:spPr/>
        <p:txBody>
          <a:bodyPr>
            <a:normAutofit fontScale="90000"/>
          </a:bodyPr>
          <a:lstStyle/>
          <a:p>
            <a:r>
              <a:rPr sz="4000" dirty="0">
                <a:ln>
                  <a:solidFill>
                    <a:srgbClr val="B8860B">
                      <a:alpha val="48420"/>
                    </a:srgbClr>
                  </a:solidFill>
                </a:ln>
                <a:solidFill>
                  <a:srgbClr val="5C1B2B"/>
                </a:solidFill>
              </a:rPr>
              <a:t>Business Rules</a:t>
            </a:r>
            <a:r>
              <a:rPr lang="en-US" sz="4000" dirty="0">
                <a:ln>
                  <a:solidFill>
                    <a:srgbClr val="B8860B">
                      <a:alpha val="48420"/>
                    </a:srgbClr>
                  </a:solidFill>
                </a:ln>
                <a:solidFill>
                  <a:srgbClr val="5C1B2B"/>
                </a:solidFill>
              </a:rPr>
              <a:t>: Production &amp; Distribution </a:t>
            </a:r>
            <a:br>
              <a:rPr lang="en-US" dirty="0">
                <a:ln>
                  <a:solidFill>
                    <a:srgbClr val="B8860B">
                      <a:alpha val="48420"/>
                    </a:srgbClr>
                  </a:solidFill>
                </a:ln>
                <a:solidFill>
                  <a:srgbClr val="5C1B2B"/>
                </a:solidFill>
              </a:rPr>
            </a:br>
            <a:r>
              <a:rPr lang="en-US" dirty="0">
                <a:ln>
                  <a:solidFill>
                    <a:srgbClr val="B8860B">
                      <a:alpha val="48420"/>
                    </a:srgbClr>
                  </a:solidFill>
                </a:ln>
                <a:solidFill>
                  <a:srgbClr val="4F6D4A"/>
                </a:solidFill>
              </a:rPr>
              <a:t>_______________</a:t>
            </a:r>
            <a:endParaRPr dirty="0">
              <a:ln>
                <a:solidFill>
                  <a:srgbClr val="B8860B">
                    <a:alpha val="48420"/>
                  </a:srgbClr>
                </a:solidFill>
              </a:ln>
              <a:solidFill>
                <a:srgbClr val="5C1B2B"/>
              </a:solidFill>
            </a:endParaRPr>
          </a:p>
        </p:txBody>
      </p:sp>
      <p:sp>
        <p:nvSpPr>
          <p:cNvPr id="3" name="TextBox 2">
            <a:extLst>
              <a:ext uri="{FF2B5EF4-FFF2-40B4-BE49-F238E27FC236}">
                <a16:creationId xmlns:a16="http://schemas.microsoft.com/office/drawing/2014/main" id="{FBB11D55-C6CB-4BC9-DEE9-822512BC9C14}"/>
              </a:ext>
            </a:extLst>
          </p:cNvPr>
          <p:cNvSpPr txBox="1"/>
          <p:nvPr/>
        </p:nvSpPr>
        <p:spPr>
          <a:xfrm>
            <a:off x="820833" y="2124651"/>
            <a:ext cx="7502333" cy="3385542"/>
          </a:xfrm>
          <a:prstGeom prst="rect">
            <a:avLst/>
          </a:prstGeom>
          <a:noFill/>
        </p:spPr>
        <p:txBody>
          <a:bodyPr wrap="square">
            <a:spAutoFit/>
          </a:bodyPr>
          <a:lstStyle/>
          <a:p>
            <a:pPr fontAlgn="base"/>
            <a:r>
              <a:rPr lang="en-US" sz="1600" b="1" u="sng" dirty="0"/>
              <a:t>Employee Rules</a:t>
            </a:r>
            <a:r>
              <a:rPr lang="en-US" sz="1600" u="sng" dirty="0"/>
              <a:t> </a:t>
            </a:r>
          </a:p>
          <a:p>
            <a:pPr lvl="0" fontAlgn="base"/>
            <a:r>
              <a:rPr lang="en-US" sz="1600" dirty="0"/>
              <a:t>One department can have many employees. </a:t>
            </a:r>
          </a:p>
          <a:p>
            <a:pPr lvl="0" fontAlgn="base"/>
            <a:r>
              <a:rPr lang="en-US" sz="1600" dirty="0"/>
              <a:t>Each employee belongs to one department. </a:t>
            </a:r>
          </a:p>
          <a:p>
            <a:pPr lvl="0" fontAlgn="base"/>
            <a:r>
              <a:rPr lang="en-US" sz="1600" dirty="0"/>
              <a:t>One employee can have many timesheets. </a:t>
            </a:r>
          </a:p>
          <a:p>
            <a:pPr lvl="0" fontAlgn="base"/>
            <a:r>
              <a:rPr lang="en-US" sz="1600" dirty="0"/>
              <a:t>Each timesheet belongs to one employee. </a:t>
            </a:r>
          </a:p>
          <a:p>
            <a:pPr fontAlgn="base"/>
            <a:r>
              <a:rPr lang="en-US" sz="1600" b="1" u="sng" dirty="0"/>
              <a:t>Wine Production Rules</a:t>
            </a:r>
            <a:r>
              <a:rPr lang="en-US" sz="1600" u="sng" dirty="0"/>
              <a:t> </a:t>
            </a:r>
          </a:p>
          <a:p>
            <a:pPr lvl="0" fontAlgn="base"/>
            <a:r>
              <a:rPr lang="en-US" sz="1600" dirty="0"/>
              <a:t>The winery produces multiple wines. </a:t>
            </a:r>
          </a:p>
          <a:p>
            <a:pPr lvl="0" fontAlgn="base"/>
            <a:r>
              <a:rPr lang="en-US" sz="1600" dirty="0"/>
              <a:t>Each wine has a unique wine identifier. </a:t>
            </a:r>
          </a:p>
          <a:p>
            <a:pPr lvl="0" fontAlgn="base"/>
            <a:r>
              <a:rPr lang="en-US" sz="1600" dirty="0"/>
              <a:t>Each wine can be included in many shipments. </a:t>
            </a:r>
          </a:p>
          <a:p>
            <a:pPr fontAlgn="base"/>
            <a:r>
              <a:rPr lang="en-US" sz="1600" b="1" u="sng" dirty="0"/>
              <a:t>Shipment Rules</a:t>
            </a:r>
            <a:r>
              <a:rPr lang="en-US" sz="1600" u="sng" dirty="0"/>
              <a:t> </a:t>
            </a:r>
          </a:p>
          <a:p>
            <a:pPr lvl="0" fontAlgn="base"/>
            <a:r>
              <a:rPr lang="en-US" sz="1600" dirty="0"/>
              <a:t>One distributor can receive many shipments. </a:t>
            </a:r>
          </a:p>
          <a:p>
            <a:pPr lvl="0" fontAlgn="base"/>
            <a:r>
              <a:rPr lang="en-US" sz="1600" dirty="0"/>
              <a:t>Each shipment has one shipment date and delivery status. </a:t>
            </a:r>
          </a:p>
          <a:p>
            <a:pPr lvl="0" fontAlgn="base"/>
            <a:r>
              <a:rPr lang="en-US" sz="1600" dirty="0"/>
              <a:t>Each shipment contains one or more wines. </a:t>
            </a:r>
          </a:p>
        </p:txBody>
      </p:sp>
      <p:pic>
        <p:nvPicPr>
          <p:cNvPr id="4" name="Graphic 3" descr="Grapes with solid fill">
            <a:extLst>
              <a:ext uri="{FF2B5EF4-FFF2-40B4-BE49-F238E27FC236}">
                <a16:creationId xmlns:a16="http://schemas.microsoft.com/office/drawing/2014/main" id="{802307EB-7499-250D-B0FF-29CABE0883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00097">
            <a:off x="7092505" y="4780888"/>
            <a:ext cx="1719698" cy="1719698"/>
          </a:xfrm>
          <a:prstGeom prst="rect">
            <a:avLst/>
          </a:prstGeom>
        </p:spPr>
      </p:pic>
    </p:spTree>
    <p:extLst>
      <p:ext uri="{BB962C8B-B14F-4D97-AF65-F5344CB8AC3E}">
        <p14:creationId xmlns:p14="http://schemas.microsoft.com/office/powerpoint/2010/main" val="12799329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433" y="517710"/>
            <a:ext cx="2696726" cy="2212313"/>
          </a:xfrm>
        </p:spPr>
        <p:txBody>
          <a:bodyPr vert="horz" lIns="91440" tIns="45720" rIns="91440" bIns="45720" rtlCol="0" anchor="t">
            <a:normAutofit/>
          </a:bodyPr>
          <a:lstStyle/>
          <a:p>
            <a:r>
              <a:rPr lang="en-US" sz="3200" dirty="0">
                <a:ln>
                  <a:solidFill>
                    <a:srgbClr val="B8860B">
                      <a:alpha val="48420"/>
                    </a:srgbClr>
                  </a:solidFill>
                </a:ln>
                <a:solidFill>
                  <a:srgbClr val="5C1B2B"/>
                </a:solidFill>
              </a:rPr>
              <a:t>Entity Relationship Diagram</a:t>
            </a:r>
            <a:br>
              <a:rPr lang="en-US" sz="3200" dirty="0">
                <a:ln>
                  <a:solidFill>
                    <a:srgbClr val="B8860B">
                      <a:alpha val="48420"/>
                    </a:srgbClr>
                  </a:solidFill>
                </a:ln>
                <a:solidFill>
                  <a:srgbClr val="5C1B2B"/>
                </a:solidFill>
              </a:rPr>
            </a:br>
            <a:r>
              <a:rPr lang="en-US" sz="3200" dirty="0">
                <a:ln>
                  <a:solidFill>
                    <a:srgbClr val="B8860B">
                      <a:alpha val="48420"/>
                    </a:srgbClr>
                  </a:solidFill>
                </a:ln>
                <a:solidFill>
                  <a:srgbClr val="4F6D4A"/>
                </a:solidFill>
              </a:rPr>
              <a:t>_____________</a:t>
            </a:r>
            <a:endParaRPr lang="en-US" sz="3200" dirty="0">
              <a:ln>
                <a:solidFill>
                  <a:srgbClr val="B8860B">
                    <a:alpha val="48420"/>
                  </a:srgbClr>
                </a:solidFill>
              </a:ln>
              <a:solidFill>
                <a:srgbClr val="5C1B2B"/>
              </a:solidFill>
            </a:endParaRPr>
          </a:p>
        </p:txBody>
      </p:sp>
      <p:sp>
        <p:nvSpPr>
          <p:cNvPr id="3" name="TextBox 2"/>
          <p:cNvSpPr txBox="1"/>
          <p:nvPr/>
        </p:nvSpPr>
        <p:spPr>
          <a:xfrm>
            <a:off x="449665" y="1352240"/>
            <a:ext cx="2689190" cy="4567794"/>
          </a:xfrm>
          <a:prstGeom prst="rect">
            <a:avLst/>
          </a:prstGeom>
        </p:spPr>
        <p:txBody>
          <a:bodyPr vert="horz" lIns="91440" tIns="45720" rIns="91440" bIns="45720" rtlCol="0" anchor="b">
            <a:normAutofit fontScale="47500" lnSpcReduction="20000"/>
          </a:bodyPr>
          <a:lstStyle/>
          <a:p>
            <a:r>
              <a:rPr lang="en-US" sz="2400" b="1" u="sng" dirty="0"/>
              <a:t>Database Design Highlights</a:t>
            </a:r>
          </a:p>
          <a:p>
            <a:endParaRPr lang="en-US" sz="2400" u="sng" dirty="0"/>
          </a:p>
          <a:p>
            <a:pPr marL="342900" lvl="0" indent="-342900">
              <a:lnSpc>
                <a:spcPct val="120000"/>
              </a:lnSpc>
              <a:buFont typeface="Arial" panose="020B0604020202020204" pitchFamily="34" charset="0"/>
              <a:buChar char="•"/>
            </a:pPr>
            <a:r>
              <a:rPr lang="en-US" sz="2400" dirty="0"/>
              <a:t>Models the core operations of Bacchus Winery, including suppliers, inventory, employees, wine production, and distribution.</a:t>
            </a:r>
          </a:p>
          <a:p>
            <a:pPr marL="342900" lvl="0" indent="-342900">
              <a:lnSpc>
                <a:spcPct val="120000"/>
              </a:lnSpc>
              <a:buFont typeface="Arial" panose="020B0604020202020204" pitchFamily="34" charset="0"/>
              <a:buChar char="•"/>
            </a:pPr>
            <a:r>
              <a:rPr lang="en-US" sz="2400" dirty="0"/>
              <a:t>Uses primary and foreign keys to maintain accurate relationships between related tables.</a:t>
            </a:r>
          </a:p>
          <a:p>
            <a:pPr marL="342900" lvl="0" indent="-342900">
              <a:lnSpc>
                <a:spcPct val="120000"/>
              </a:lnSpc>
              <a:buFont typeface="Arial" panose="020B0604020202020204" pitchFamily="34" charset="0"/>
              <a:buChar char="•"/>
            </a:pPr>
            <a:r>
              <a:rPr lang="en-US" sz="2400" dirty="0"/>
              <a:t>Implements bridge tables to support many-to-many relationships while maintaining data integrity.</a:t>
            </a:r>
          </a:p>
          <a:p>
            <a:pPr marL="342900" lvl="0" indent="-342900">
              <a:lnSpc>
                <a:spcPct val="120000"/>
              </a:lnSpc>
              <a:buFont typeface="Arial" panose="020B0604020202020204" pitchFamily="34" charset="0"/>
              <a:buChar char="•"/>
            </a:pPr>
            <a:r>
              <a:rPr lang="en-US" sz="2400" dirty="0"/>
              <a:t>Organized in Third Normal Form (3NF) to reduce redundancy and improve consistency.</a:t>
            </a:r>
          </a:p>
          <a:p>
            <a:pPr marL="342900" lvl="0" indent="-342900">
              <a:lnSpc>
                <a:spcPct val="120000"/>
              </a:lnSpc>
              <a:buFont typeface="Arial" panose="020B0604020202020204" pitchFamily="34" charset="0"/>
              <a:buChar char="•"/>
            </a:pPr>
            <a:r>
              <a:rPr lang="en-US" sz="2400" dirty="0"/>
              <a:t>Provides a scalable foundation for reporting, inventory management, and future business growth.</a:t>
            </a:r>
          </a:p>
        </p:txBody>
      </p:sp>
      <p:sp>
        <p:nvSpPr>
          <p:cNvPr id="9" name="Date Placeholder 4">
            <a:extLst>
              <a:ext uri="{FF2B5EF4-FFF2-40B4-BE49-F238E27FC236}">
                <a16:creationId xmlns:a16="http://schemas.microsoft.com/office/drawing/2014/main" id="{15788319-19A6-BE85-5AF4-A9B282DF8A3D}"/>
              </a:ext>
            </a:extLst>
          </p:cNvPr>
          <p:cNvSpPr>
            <a:spLocks noGrp="1"/>
          </p:cNvSpPr>
          <p:nvPr>
            <p:ph type="dt" sz="half" idx="10"/>
          </p:nvPr>
        </p:nvSpPr>
        <p:spPr>
          <a:xfrm>
            <a:off x="102870" y="6453003"/>
            <a:ext cx="2620736" cy="365125"/>
          </a:xfrm>
        </p:spPr>
        <p:txBody>
          <a:bodyPr/>
          <a:lstStyle/>
          <a:p>
            <a:pPr>
              <a:spcAft>
                <a:spcPts val="600"/>
              </a:spcAft>
            </a:pPr>
            <a:fld id="{71ADA1C5-0578-4FD0-A14D-01FDF482BA6B}" type="datetime1">
              <a:rPr lang="en-US" smtClean="0"/>
              <a:pPr>
                <a:spcAft>
                  <a:spcPts val="600"/>
                </a:spcAft>
              </a:pPr>
              <a:t>7/31/2026</a:t>
            </a:fld>
            <a:endParaRPr lang="en-US"/>
          </a:p>
        </p:txBody>
      </p:sp>
      <p:sp>
        <p:nvSpPr>
          <p:cNvPr id="11" name="Footer Placeholder 5">
            <a:extLst>
              <a:ext uri="{FF2B5EF4-FFF2-40B4-BE49-F238E27FC236}">
                <a16:creationId xmlns:a16="http://schemas.microsoft.com/office/drawing/2014/main" id="{1608D1BD-6CE6-376A-64BD-57CF5842AF90}"/>
              </a:ext>
            </a:extLst>
          </p:cNvPr>
          <p:cNvSpPr>
            <a:spLocks noGrp="1"/>
          </p:cNvSpPr>
          <p:nvPr>
            <p:ph type="ftr" sz="quarter" idx="11"/>
          </p:nvPr>
        </p:nvSpPr>
        <p:spPr>
          <a:xfrm>
            <a:off x="6657391" y="6453003"/>
            <a:ext cx="2104054" cy="365125"/>
          </a:xfrm>
        </p:spPr>
        <p:txBody>
          <a:bodyPr/>
          <a:lstStyle/>
          <a:p>
            <a:pPr>
              <a:spcAft>
                <a:spcPts val="600"/>
              </a:spcAft>
            </a:pPr>
            <a:r>
              <a:rPr lang="en-US"/>
              <a:t>
              </a:t>
            </a:r>
          </a:p>
        </p:txBody>
      </p:sp>
      <p:sp>
        <p:nvSpPr>
          <p:cNvPr id="13" name="Slide Number Placeholder 6">
            <a:extLst>
              <a:ext uri="{FF2B5EF4-FFF2-40B4-BE49-F238E27FC236}">
                <a16:creationId xmlns:a16="http://schemas.microsoft.com/office/drawing/2014/main" id="{9B439E72-0507-1347-6873-BEB7A197B4F2}"/>
              </a:ext>
            </a:extLst>
          </p:cNvPr>
          <p:cNvSpPr>
            <a:spLocks noGrp="1"/>
          </p:cNvSpPr>
          <p:nvPr>
            <p:ph type="sldNum" sz="quarter" idx="12"/>
          </p:nvPr>
        </p:nvSpPr>
        <p:spPr>
          <a:xfrm>
            <a:off x="8724122" y="6453003"/>
            <a:ext cx="321905" cy="365125"/>
          </a:xfrm>
        </p:spPr>
        <p:txBody>
          <a:bodyPr/>
          <a:lstStyle/>
          <a:p>
            <a:pPr>
              <a:spcAft>
                <a:spcPts val="600"/>
              </a:spcAft>
            </a:pPr>
            <a:fld id="{CC057153-B650-4DEB-B370-79DDCFDCE934}" type="slidenum">
              <a:rPr lang="en-US" smtClean="0"/>
              <a:pPr>
                <a:spcAft>
                  <a:spcPts val="600"/>
                </a:spcAft>
              </a:pPr>
              <a:t>5</a:t>
            </a:fld>
            <a:endParaRPr lang="en-US"/>
          </a:p>
        </p:txBody>
      </p:sp>
      <p:pic>
        <p:nvPicPr>
          <p:cNvPr id="6" name="Picture 5">
            <a:extLst>
              <a:ext uri="{FF2B5EF4-FFF2-40B4-BE49-F238E27FC236}">
                <a16:creationId xmlns:a16="http://schemas.microsoft.com/office/drawing/2014/main" id="{5AA0709C-B201-3186-C7BC-D8D5A90054DA}"/>
              </a:ext>
            </a:extLst>
          </p:cNvPr>
          <p:cNvPicPr>
            <a:picLocks noChangeAspect="1"/>
          </p:cNvPicPr>
          <p:nvPr/>
        </p:nvPicPr>
        <p:blipFill>
          <a:blip r:embed="rId2"/>
          <a:stretch>
            <a:fillRect/>
          </a:stretch>
        </p:blipFill>
        <p:spPr>
          <a:xfrm>
            <a:off x="3153927" y="463937"/>
            <a:ext cx="5085100" cy="5838448"/>
          </a:xfrm>
          <a:prstGeom prst="rect">
            <a:avLst/>
          </a:prstGeom>
        </p:spPr>
      </p:pic>
      <p:sp>
        <p:nvSpPr>
          <p:cNvPr id="5" name="TextBox 4">
            <a:extLst>
              <a:ext uri="{FF2B5EF4-FFF2-40B4-BE49-F238E27FC236}">
                <a16:creationId xmlns:a16="http://schemas.microsoft.com/office/drawing/2014/main" id="{D0841410-A71E-3718-45B0-24D265E8F6DE}"/>
              </a:ext>
            </a:extLst>
          </p:cNvPr>
          <p:cNvSpPr txBox="1"/>
          <p:nvPr/>
        </p:nvSpPr>
        <p:spPr>
          <a:xfrm>
            <a:off x="6306207" y="4861034"/>
            <a:ext cx="2743200"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ea typeface="+mn-lt"/>
                <a:cs typeface="+mn-lt"/>
              </a:rPr>
              <a:t>Bridge Tables:</a:t>
            </a:r>
            <a:endParaRPr lang="en-US" sz="1100" b="1" dirty="0">
              <a:ea typeface="+mn-lt"/>
              <a:cs typeface="+mn-lt"/>
            </a:endParaRPr>
          </a:p>
          <a:p>
            <a:r>
              <a:rPr lang="en-US" sz="1100" dirty="0">
                <a:ea typeface="+mn-lt"/>
                <a:cs typeface="+mn-lt"/>
              </a:rPr>
              <a:t>Bridge tables (</a:t>
            </a:r>
            <a:r>
              <a:rPr lang="en-US" sz="1100" dirty="0" err="1">
                <a:ea typeface="+mn-lt"/>
                <a:cs typeface="+mn-lt"/>
              </a:rPr>
              <a:t>Delivery_Item</a:t>
            </a:r>
            <a:r>
              <a:rPr lang="en-US" sz="1100" dirty="0">
                <a:ea typeface="+mn-lt"/>
                <a:cs typeface="+mn-lt"/>
              </a:rPr>
              <a:t> and </a:t>
            </a:r>
            <a:r>
              <a:rPr lang="en-US" sz="1100" dirty="0" err="1">
                <a:ea typeface="+mn-lt"/>
                <a:cs typeface="+mn-lt"/>
              </a:rPr>
              <a:t>Shipment_Wine</a:t>
            </a:r>
            <a:r>
              <a:rPr lang="en-US" sz="1100" dirty="0">
                <a:ea typeface="+mn-lt"/>
                <a:cs typeface="+mn-lt"/>
              </a:rPr>
              <a:t>) resolve many-to-many relationships by linking deliveries to inventory items and shipments to wines. This design reduces redundancy, improves data integrity, and supports accurate reporting.</a:t>
            </a:r>
            <a:endParaRPr lang="en-US" sz="11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descr="Bottle with solid fill">
            <a:extLst>
              <a:ext uri="{FF2B5EF4-FFF2-40B4-BE49-F238E27FC236}">
                <a16:creationId xmlns:a16="http://schemas.microsoft.com/office/drawing/2014/main" id="{CFA2435F-1ADD-3CCF-6826-244CA57A0001}"/>
              </a:ext>
            </a:extLst>
          </p:cNvPr>
          <p:cNvPicPr>
            <a:picLocks noChangeAspect="1"/>
          </p:cNvPicPr>
          <p:nvPr/>
        </p:nvPicPr>
        <p:blipFill>
          <a:blip>
            <a:alphaModFix amt="30000"/>
            <a:extLst>
              <a:ext uri="{96DAC541-7B7A-43D3-8B79-37D633B846F1}">
                <asvg:svgBlip xmlns:asvg="http://schemas.microsoft.com/office/drawing/2016/SVG/main" r:embed="rId2"/>
              </a:ext>
            </a:extLst>
          </a:blip>
          <a:stretch>
            <a:fillRect/>
          </a:stretch>
        </p:blipFill>
        <p:spPr>
          <a:xfrm rot="19268260">
            <a:off x="320375" y="-440958"/>
            <a:ext cx="7334358" cy="7334358"/>
          </a:xfrm>
          <a:prstGeom prst="rect">
            <a:avLst/>
          </a:prstGeom>
        </p:spPr>
      </p:pic>
      <p:pic>
        <p:nvPicPr>
          <p:cNvPr id="6" name="Graphic 5" descr="Wine with solid fill">
            <a:extLst>
              <a:ext uri="{FF2B5EF4-FFF2-40B4-BE49-F238E27FC236}">
                <a16:creationId xmlns:a16="http://schemas.microsoft.com/office/drawing/2014/main" id="{81BD0F83-E2FD-A37F-8E8B-D482231B3836}"/>
              </a:ext>
            </a:extLst>
          </p:cNvPr>
          <p:cNvPicPr>
            <a:picLocks noChangeAspect="1"/>
          </p:cNvPicPr>
          <p:nvPr/>
        </p:nvPicPr>
        <p:blipFill>
          <a:blip>
            <a:alphaModFix amt="30000"/>
            <a:extLst>
              <a:ext uri="{96DAC541-7B7A-43D3-8B79-37D633B846F1}">
                <asvg:svgBlip xmlns:asvg="http://schemas.microsoft.com/office/drawing/2016/SVG/main" r:embed="rId3"/>
              </a:ext>
            </a:extLst>
          </a:blip>
          <a:stretch>
            <a:fillRect/>
          </a:stretch>
        </p:blipFill>
        <p:spPr>
          <a:xfrm rot="634016">
            <a:off x="437067" y="-452239"/>
            <a:ext cx="6937960" cy="6937960"/>
          </a:xfrm>
          <a:prstGeom prst="rect">
            <a:avLst/>
          </a:prstGeom>
        </p:spPr>
      </p:pic>
      <p:sp>
        <p:nvSpPr>
          <p:cNvPr id="2" name="Title 1"/>
          <p:cNvSpPr>
            <a:spLocks noGrp="1"/>
          </p:cNvSpPr>
          <p:nvPr>
            <p:ph type="title"/>
          </p:nvPr>
        </p:nvSpPr>
        <p:spPr>
          <a:xfrm>
            <a:off x="459486" y="772461"/>
            <a:ext cx="7990184" cy="1132258"/>
          </a:xfrm>
        </p:spPr>
        <p:txBody>
          <a:bodyPr>
            <a:normAutofit fontScale="90000"/>
          </a:bodyPr>
          <a:lstStyle/>
          <a:p>
            <a:r>
              <a:rPr dirty="0">
                <a:ln>
                  <a:solidFill>
                    <a:srgbClr val="B8860B">
                      <a:alpha val="48420"/>
                    </a:srgbClr>
                  </a:solidFill>
                </a:ln>
                <a:solidFill>
                  <a:srgbClr val="5C1B2B"/>
                </a:solidFill>
              </a:rPr>
              <a:t>Report #1: Supplier Delivery Performance</a:t>
            </a:r>
            <a:br>
              <a:rPr lang="en-US" dirty="0">
                <a:ln>
                  <a:solidFill>
                    <a:srgbClr val="B8860B">
                      <a:alpha val="48420"/>
                    </a:srgbClr>
                  </a:solidFill>
                </a:ln>
                <a:solidFill>
                  <a:srgbClr val="5C1B2B"/>
                </a:solidFill>
              </a:rPr>
            </a:br>
            <a:r>
              <a:rPr lang="en-US" dirty="0">
                <a:ln>
                  <a:solidFill>
                    <a:srgbClr val="B8860B">
                      <a:alpha val="48420"/>
                    </a:srgbClr>
                  </a:solidFill>
                </a:ln>
                <a:solidFill>
                  <a:srgbClr val="4F6D4A"/>
                </a:solidFill>
              </a:rPr>
              <a:t>_______________</a:t>
            </a:r>
            <a:endParaRPr dirty="0">
              <a:ln>
                <a:solidFill>
                  <a:srgbClr val="B8860B">
                    <a:alpha val="48420"/>
                  </a:srgbClr>
                </a:solidFill>
              </a:ln>
              <a:solidFill>
                <a:srgbClr val="5C1B2B"/>
              </a:solidFill>
            </a:endParaRPr>
          </a:p>
        </p:txBody>
      </p:sp>
      <p:sp>
        <p:nvSpPr>
          <p:cNvPr id="3" name="TextBox 2"/>
          <p:cNvSpPr txBox="1"/>
          <p:nvPr/>
        </p:nvSpPr>
        <p:spPr>
          <a:xfrm>
            <a:off x="459486" y="2210421"/>
            <a:ext cx="7385374" cy="2123658"/>
          </a:xfrm>
          <a:prstGeom prst="rect">
            <a:avLst/>
          </a:prstGeom>
          <a:noFill/>
        </p:spPr>
        <p:txBody>
          <a:bodyPr wrap="square" lIns="91440" tIns="45720" rIns="91440" bIns="45720" anchor="t">
            <a:spAutoFit/>
          </a:bodyPr>
          <a:lstStyle/>
          <a:p>
            <a:r>
              <a:rPr lang="en-US" sz="1600" b="1" u="sng" dirty="0"/>
              <a:t>Business Purpose</a:t>
            </a:r>
            <a:br>
              <a:rPr lang="en-US" sz="1600" dirty="0"/>
            </a:br>
            <a:r>
              <a:rPr lang="en-US" sz="1600" dirty="0"/>
              <a:t>Monitor supplier performance to improve purchasing decisions and inventory management.</a:t>
            </a:r>
          </a:p>
          <a:p>
            <a:r>
              <a:rPr lang="en-US" sz="1600" b="1" u="sng" dirty="0"/>
              <a:t>Report Highlights</a:t>
            </a:r>
            <a:endParaRPr lang="en-US" sz="1600" u="sng" dirty="0"/>
          </a:p>
          <a:p>
            <a:pPr lvl="0"/>
            <a:r>
              <a:rPr lang="en-US" sz="1600" dirty="0"/>
              <a:t>Track on-time and late deliveries by supplier.</a:t>
            </a:r>
          </a:p>
          <a:p>
            <a:pPr lvl="0"/>
            <a:r>
              <a:rPr lang="en-US" sz="1600" dirty="0"/>
              <a:t>Identify suppliers with consistent delivery performance.</a:t>
            </a:r>
          </a:p>
          <a:p>
            <a:pPr lvl="0"/>
            <a:r>
              <a:rPr lang="en-US" sz="1600" dirty="0"/>
              <a:t>Support purchasing decisions based on reliability.</a:t>
            </a:r>
          </a:p>
          <a:p>
            <a:pPr lvl="0"/>
            <a:r>
              <a:rPr lang="en-US" sz="1600" dirty="0"/>
              <a:t>Reduce production delays caused by late shipments.</a:t>
            </a:r>
          </a:p>
        </p:txBody>
      </p:sp>
      <p:pic>
        <p:nvPicPr>
          <p:cNvPr id="9" name="Picture 8">
            <a:extLst>
              <a:ext uri="{FF2B5EF4-FFF2-40B4-BE49-F238E27FC236}">
                <a16:creationId xmlns:a16="http://schemas.microsoft.com/office/drawing/2014/main" id="{04F76B5A-42EF-40E7-D43D-B1A10EA4EF5A}"/>
              </a:ext>
            </a:extLst>
          </p:cNvPr>
          <p:cNvPicPr>
            <a:picLocks noChangeAspect="1"/>
          </p:cNvPicPr>
          <p:nvPr/>
        </p:nvPicPr>
        <p:blipFill>
          <a:blip r:embed="rId4"/>
          <a:srcRect l="-561" t="-164" r="701" b="72480"/>
          <a:stretch>
            <a:fillRect/>
          </a:stretch>
        </p:blipFill>
        <p:spPr>
          <a:xfrm>
            <a:off x="457062" y="4335517"/>
            <a:ext cx="8015930" cy="189858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descr="Bottle with solid fill">
            <a:extLst>
              <a:ext uri="{FF2B5EF4-FFF2-40B4-BE49-F238E27FC236}">
                <a16:creationId xmlns:a16="http://schemas.microsoft.com/office/drawing/2014/main" id="{AA0E5F96-FCD8-6A1F-076A-DE4D9A5461AB}"/>
              </a:ext>
            </a:extLst>
          </p:cNvPr>
          <p:cNvPicPr>
            <a:picLocks noChangeAspect="1"/>
          </p:cNvPicPr>
          <p:nvPr/>
        </p:nvPicPr>
        <p:blipFill>
          <a:blip>
            <a:alphaModFix amt="30000"/>
            <a:extLst>
              <a:ext uri="{96DAC541-7B7A-43D3-8B79-37D633B846F1}">
                <asvg:svgBlip xmlns:asvg="http://schemas.microsoft.com/office/drawing/2016/SVG/main" r:embed="rId2"/>
              </a:ext>
            </a:extLst>
          </a:blip>
          <a:stretch>
            <a:fillRect/>
          </a:stretch>
        </p:blipFill>
        <p:spPr>
          <a:xfrm rot="19268260">
            <a:off x="320374" y="-512066"/>
            <a:ext cx="7334358" cy="7334358"/>
          </a:xfrm>
          <a:prstGeom prst="rect">
            <a:avLst/>
          </a:prstGeom>
        </p:spPr>
      </p:pic>
      <p:pic>
        <p:nvPicPr>
          <p:cNvPr id="6" name="Graphic 5" descr="Wine with solid fill">
            <a:extLst>
              <a:ext uri="{FF2B5EF4-FFF2-40B4-BE49-F238E27FC236}">
                <a16:creationId xmlns:a16="http://schemas.microsoft.com/office/drawing/2014/main" id="{0A7FC1C7-AAA3-F604-073F-DA55ADF1AE4F}"/>
              </a:ext>
            </a:extLst>
          </p:cNvPr>
          <p:cNvPicPr>
            <a:picLocks noChangeAspect="1"/>
          </p:cNvPicPr>
          <p:nvPr/>
        </p:nvPicPr>
        <p:blipFill>
          <a:blip>
            <a:alphaModFix amt="30000"/>
            <a:extLst>
              <a:ext uri="{96DAC541-7B7A-43D3-8B79-37D633B846F1}">
                <asvg:svgBlip xmlns:asvg="http://schemas.microsoft.com/office/drawing/2016/SVG/main" r:embed="rId3"/>
              </a:ext>
            </a:extLst>
          </a:blip>
          <a:stretch>
            <a:fillRect/>
          </a:stretch>
        </p:blipFill>
        <p:spPr>
          <a:xfrm rot="634016">
            <a:off x="437067" y="-452239"/>
            <a:ext cx="6937960" cy="6937960"/>
          </a:xfrm>
          <a:prstGeom prst="rect">
            <a:avLst/>
          </a:prstGeom>
        </p:spPr>
      </p:pic>
      <p:sp>
        <p:nvSpPr>
          <p:cNvPr id="2" name="Title 1"/>
          <p:cNvSpPr>
            <a:spLocks noGrp="1"/>
          </p:cNvSpPr>
          <p:nvPr>
            <p:ph type="title"/>
          </p:nvPr>
        </p:nvSpPr>
        <p:spPr>
          <a:xfrm>
            <a:off x="459486" y="548639"/>
            <a:ext cx="7990184" cy="1132258"/>
          </a:xfrm>
        </p:spPr>
        <p:txBody>
          <a:bodyPr>
            <a:normAutofit fontScale="90000"/>
          </a:bodyPr>
          <a:lstStyle/>
          <a:p>
            <a:r>
              <a:rPr dirty="0">
                <a:ln>
                  <a:solidFill>
                    <a:srgbClr val="B8860B">
                      <a:alpha val="48420"/>
                    </a:srgbClr>
                  </a:solidFill>
                </a:ln>
                <a:solidFill>
                  <a:srgbClr val="5C1B2B"/>
                </a:solidFill>
              </a:rPr>
              <a:t>Report #2: Wine Sales &amp; Distribution</a:t>
            </a:r>
            <a:br>
              <a:rPr lang="en-US" dirty="0">
                <a:ln>
                  <a:solidFill>
                    <a:srgbClr val="B8860B">
                      <a:alpha val="48420"/>
                    </a:srgbClr>
                  </a:solidFill>
                </a:ln>
                <a:solidFill>
                  <a:srgbClr val="5C1B2B"/>
                </a:solidFill>
              </a:rPr>
            </a:br>
            <a:r>
              <a:rPr lang="en-US" dirty="0">
                <a:ln>
                  <a:solidFill>
                    <a:srgbClr val="B8860B">
                      <a:alpha val="48420"/>
                    </a:srgbClr>
                  </a:solidFill>
                </a:ln>
                <a:solidFill>
                  <a:srgbClr val="4F6D4A"/>
                </a:solidFill>
              </a:rPr>
              <a:t>_______________</a:t>
            </a:r>
            <a:endParaRPr dirty="0">
              <a:ln>
                <a:solidFill>
                  <a:srgbClr val="B8860B">
                    <a:alpha val="48420"/>
                  </a:srgbClr>
                </a:solidFill>
              </a:ln>
              <a:solidFill>
                <a:srgbClr val="5C1B2B"/>
              </a:solidFill>
            </a:endParaRPr>
          </a:p>
        </p:txBody>
      </p:sp>
      <p:sp>
        <p:nvSpPr>
          <p:cNvPr id="3" name="TextBox 2"/>
          <p:cNvSpPr txBox="1"/>
          <p:nvPr/>
        </p:nvSpPr>
        <p:spPr>
          <a:xfrm>
            <a:off x="549161" y="1719679"/>
            <a:ext cx="2982024" cy="4524315"/>
          </a:xfrm>
          <a:prstGeom prst="rect">
            <a:avLst/>
          </a:prstGeom>
          <a:noFill/>
        </p:spPr>
        <p:txBody>
          <a:bodyPr wrap="square" lIns="91440" tIns="45720" rIns="91440" bIns="45720" anchor="t">
            <a:spAutoFit/>
          </a:bodyPr>
          <a:lstStyle/>
          <a:p>
            <a:r>
              <a:rPr lang="en-US" b="1" u="sng" dirty="0"/>
              <a:t>Business Purpose</a:t>
            </a:r>
            <a:br>
              <a:rPr lang="en-US" dirty="0"/>
            </a:br>
            <a:r>
              <a:rPr lang="en-US" dirty="0"/>
              <a:t>Analyze wine distribution to support production planning and sales strategies.</a:t>
            </a:r>
          </a:p>
          <a:p>
            <a:r>
              <a:rPr lang="en-US" b="1" u="sng" dirty="0"/>
              <a:t>Report Highlights</a:t>
            </a:r>
            <a:endParaRPr lang="en-US" u="sng" dirty="0"/>
          </a:p>
          <a:p>
            <a:pPr lvl="0"/>
            <a:r>
              <a:rPr lang="en-US" dirty="0"/>
              <a:t>Monitor which wines are shipped most frequently.</a:t>
            </a:r>
          </a:p>
          <a:p>
            <a:pPr lvl="0"/>
            <a:r>
              <a:rPr lang="en-US" dirty="0"/>
              <a:t>Compare distributor activity across wine varieties.</a:t>
            </a:r>
          </a:p>
          <a:p>
            <a:pPr lvl="0"/>
            <a:r>
              <a:rPr lang="en-US" dirty="0"/>
              <a:t>Identify high-demand and low-demand products.</a:t>
            </a:r>
          </a:p>
          <a:p>
            <a:pPr lvl="0"/>
            <a:r>
              <a:rPr lang="en-US" dirty="0"/>
              <a:t>Support production planning and inventory allocation.</a:t>
            </a:r>
          </a:p>
        </p:txBody>
      </p:sp>
      <p:pic>
        <p:nvPicPr>
          <p:cNvPr id="5" name="Graphic 4" descr="Grapes with solid fill">
            <a:extLst>
              <a:ext uri="{FF2B5EF4-FFF2-40B4-BE49-F238E27FC236}">
                <a16:creationId xmlns:a16="http://schemas.microsoft.com/office/drawing/2014/main" id="{FEF2DDCA-BB99-3649-CF4D-FBE4263C56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00097">
            <a:off x="7092505" y="4780888"/>
            <a:ext cx="1719698" cy="1719698"/>
          </a:xfrm>
          <a:prstGeom prst="rect">
            <a:avLst/>
          </a:prstGeom>
        </p:spPr>
      </p:pic>
      <p:pic>
        <p:nvPicPr>
          <p:cNvPr id="8" name="Picture 7">
            <a:extLst>
              <a:ext uri="{FF2B5EF4-FFF2-40B4-BE49-F238E27FC236}">
                <a16:creationId xmlns:a16="http://schemas.microsoft.com/office/drawing/2014/main" id="{F060C501-ABC4-4BB2-7881-5D65C5682FF6}"/>
              </a:ext>
            </a:extLst>
          </p:cNvPr>
          <p:cNvPicPr>
            <a:picLocks noChangeAspect="1"/>
          </p:cNvPicPr>
          <p:nvPr/>
        </p:nvPicPr>
        <p:blipFill>
          <a:blip r:embed="rId5"/>
          <a:srcRect l="-115" t="27586" r="36746" b="38095"/>
          <a:stretch>
            <a:fillRect/>
          </a:stretch>
        </p:blipFill>
        <p:spPr>
          <a:xfrm>
            <a:off x="3533348" y="1981951"/>
            <a:ext cx="5086757" cy="235357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Wine with solid fill">
            <a:extLst>
              <a:ext uri="{FF2B5EF4-FFF2-40B4-BE49-F238E27FC236}">
                <a16:creationId xmlns:a16="http://schemas.microsoft.com/office/drawing/2014/main" id="{FFF9AE7B-E990-B66C-B0E3-6EE4141F59BD}"/>
              </a:ext>
            </a:extLst>
          </p:cNvPr>
          <p:cNvPicPr>
            <a:picLocks noChangeAspect="1"/>
          </p:cNvPicPr>
          <p:nvPr/>
        </p:nvPicPr>
        <p:blipFill>
          <a:blip>
            <a:alphaModFix amt="30000"/>
            <a:extLst>
              <a:ext uri="{96DAC541-7B7A-43D3-8B79-37D633B846F1}">
                <asvg:svgBlip xmlns:asvg="http://schemas.microsoft.com/office/drawing/2016/SVG/main" r:embed="rId2"/>
              </a:ext>
            </a:extLst>
          </a:blip>
          <a:stretch>
            <a:fillRect/>
          </a:stretch>
        </p:blipFill>
        <p:spPr>
          <a:xfrm rot="634016">
            <a:off x="437067" y="-452239"/>
            <a:ext cx="6937960" cy="6937960"/>
          </a:xfrm>
          <a:prstGeom prst="rect">
            <a:avLst/>
          </a:prstGeom>
        </p:spPr>
      </p:pic>
      <p:pic>
        <p:nvPicPr>
          <p:cNvPr id="7" name="Graphic 6" descr="Bottle with solid fill">
            <a:extLst>
              <a:ext uri="{FF2B5EF4-FFF2-40B4-BE49-F238E27FC236}">
                <a16:creationId xmlns:a16="http://schemas.microsoft.com/office/drawing/2014/main" id="{D17F399A-1D40-6D97-5D1D-E6672FF43852}"/>
              </a:ext>
            </a:extLst>
          </p:cNvPr>
          <p:cNvPicPr>
            <a:picLocks noChangeAspect="1"/>
          </p:cNvPicPr>
          <p:nvPr/>
        </p:nvPicPr>
        <p:blipFill>
          <a:blip>
            <a:alphaModFix amt="30000"/>
            <a:extLst>
              <a:ext uri="{96DAC541-7B7A-43D3-8B79-37D633B846F1}">
                <asvg:svgBlip xmlns:asvg="http://schemas.microsoft.com/office/drawing/2016/SVG/main" r:embed="rId3"/>
              </a:ext>
            </a:extLst>
          </a:blip>
          <a:stretch>
            <a:fillRect/>
          </a:stretch>
        </p:blipFill>
        <p:spPr>
          <a:xfrm rot="19268260">
            <a:off x="320375" y="-440958"/>
            <a:ext cx="7334358" cy="7334358"/>
          </a:xfrm>
          <a:prstGeom prst="rect">
            <a:avLst/>
          </a:prstGeom>
        </p:spPr>
      </p:pic>
      <p:sp>
        <p:nvSpPr>
          <p:cNvPr id="2" name="Title 1"/>
          <p:cNvSpPr>
            <a:spLocks noGrp="1"/>
          </p:cNvSpPr>
          <p:nvPr>
            <p:ph type="title"/>
          </p:nvPr>
        </p:nvSpPr>
        <p:spPr>
          <a:xfrm>
            <a:off x="445770" y="557786"/>
            <a:ext cx="4965216" cy="1269388"/>
          </a:xfrm>
        </p:spPr>
        <p:txBody>
          <a:bodyPr vert="horz" lIns="91440" tIns="45720" rIns="91440" bIns="45720" rtlCol="0" anchor="t">
            <a:normAutofit fontScale="90000"/>
          </a:bodyPr>
          <a:lstStyle/>
          <a:p>
            <a:r>
              <a:rPr lang="en-US" sz="3600" dirty="0">
                <a:ln>
                  <a:solidFill>
                    <a:srgbClr val="B8860B">
                      <a:alpha val="48420"/>
                    </a:srgbClr>
                  </a:solidFill>
                </a:ln>
                <a:solidFill>
                  <a:srgbClr val="5C1B2B"/>
                </a:solidFill>
              </a:rPr>
              <a:t>Report #3: Employee Hours Tracking</a:t>
            </a:r>
            <a:br>
              <a:rPr lang="en-US" sz="3600" dirty="0">
                <a:ln>
                  <a:solidFill>
                    <a:srgbClr val="B8860B">
                      <a:alpha val="48420"/>
                    </a:srgbClr>
                  </a:solidFill>
                </a:ln>
                <a:solidFill>
                  <a:srgbClr val="5C1B2B"/>
                </a:solidFill>
              </a:rPr>
            </a:br>
            <a:r>
              <a:rPr lang="en-US" sz="3600" dirty="0">
                <a:ln>
                  <a:solidFill>
                    <a:srgbClr val="B8860B">
                      <a:alpha val="48420"/>
                    </a:srgbClr>
                  </a:solidFill>
                </a:ln>
                <a:solidFill>
                  <a:srgbClr val="4F6D4A"/>
                </a:solidFill>
              </a:rPr>
              <a:t>_______________</a:t>
            </a:r>
            <a:endParaRPr lang="en-US" sz="3600" dirty="0">
              <a:ln>
                <a:solidFill>
                  <a:srgbClr val="B8860B">
                    <a:alpha val="48420"/>
                  </a:srgbClr>
                </a:solidFill>
              </a:ln>
              <a:solidFill>
                <a:srgbClr val="5C1B2B"/>
              </a:solidFill>
            </a:endParaRPr>
          </a:p>
        </p:txBody>
      </p:sp>
      <p:sp>
        <p:nvSpPr>
          <p:cNvPr id="3" name="TextBox 2"/>
          <p:cNvSpPr txBox="1"/>
          <p:nvPr/>
        </p:nvSpPr>
        <p:spPr>
          <a:xfrm>
            <a:off x="457201" y="2826137"/>
            <a:ext cx="2689190" cy="3434638"/>
          </a:xfrm>
          <a:prstGeom prst="rect">
            <a:avLst/>
          </a:prstGeom>
        </p:spPr>
        <p:txBody>
          <a:bodyPr vert="horz" lIns="91440" tIns="45720" rIns="91440" bIns="45720" rtlCol="0" anchor="b">
            <a:normAutofit/>
          </a:bodyPr>
          <a:lstStyle/>
          <a:p>
            <a:pPr defTabSz="914400">
              <a:lnSpc>
                <a:spcPct val="120000"/>
              </a:lnSpc>
              <a:spcBef>
                <a:spcPts val="1000"/>
              </a:spcBef>
              <a:defRPr sz="2400"/>
            </a:pPr>
            <a:br>
              <a:rPr lang="en-US" sz="2133" kern="1200" dirty="0">
                <a:latin typeface="+mn-lt"/>
                <a:ea typeface="+mn-ea"/>
                <a:cs typeface="+mn-cs"/>
              </a:rPr>
            </a:br>
            <a:endParaRPr lang="en-US" sz="2133" kern="1200" dirty="0">
              <a:latin typeface="+mn-lt"/>
              <a:ea typeface="+mn-ea"/>
              <a:cs typeface="+mn-cs"/>
            </a:endParaRPr>
          </a:p>
        </p:txBody>
      </p:sp>
      <p:sp>
        <p:nvSpPr>
          <p:cNvPr id="9" name="Date Placeholder 4">
            <a:extLst>
              <a:ext uri="{FF2B5EF4-FFF2-40B4-BE49-F238E27FC236}">
                <a16:creationId xmlns:a16="http://schemas.microsoft.com/office/drawing/2014/main" id="{2979621D-35F3-EB73-08A1-87197AF95964}"/>
              </a:ext>
            </a:extLst>
          </p:cNvPr>
          <p:cNvSpPr>
            <a:spLocks noGrp="1"/>
          </p:cNvSpPr>
          <p:nvPr>
            <p:ph type="dt" sz="half" idx="10"/>
          </p:nvPr>
        </p:nvSpPr>
        <p:spPr>
          <a:xfrm>
            <a:off x="102870" y="6453003"/>
            <a:ext cx="2620736" cy="365125"/>
          </a:xfrm>
        </p:spPr>
        <p:txBody>
          <a:bodyPr/>
          <a:lstStyle/>
          <a:p>
            <a:pPr>
              <a:spcAft>
                <a:spcPts val="600"/>
              </a:spcAft>
            </a:pPr>
            <a:fld id="{3CE04737-DB3B-4724-B240-5D0C28BCA5CE}" type="datetime1">
              <a:rPr lang="en-US" smtClean="0"/>
              <a:pPr>
                <a:spcAft>
                  <a:spcPts val="600"/>
                </a:spcAft>
              </a:pPr>
              <a:t>7/31/2026</a:t>
            </a:fld>
            <a:endParaRPr lang="en-US"/>
          </a:p>
        </p:txBody>
      </p:sp>
      <p:sp>
        <p:nvSpPr>
          <p:cNvPr id="11" name="Footer Placeholder 5">
            <a:extLst>
              <a:ext uri="{FF2B5EF4-FFF2-40B4-BE49-F238E27FC236}">
                <a16:creationId xmlns:a16="http://schemas.microsoft.com/office/drawing/2014/main" id="{A291F7E6-DE0D-C84D-C8AE-471E4C5D7DD4}"/>
              </a:ext>
            </a:extLst>
          </p:cNvPr>
          <p:cNvSpPr>
            <a:spLocks noGrp="1"/>
          </p:cNvSpPr>
          <p:nvPr>
            <p:ph type="ftr" sz="quarter" idx="11"/>
          </p:nvPr>
        </p:nvSpPr>
        <p:spPr>
          <a:xfrm>
            <a:off x="6657391" y="6453003"/>
            <a:ext cx="2104054" cy="365125"/>
          </a:xfrm>
        </p:spPr>
        <p:txBody>
          <a:bodyPr/>
          <a:lstStyle/>
          <a:p>
            <a:pPr>
              <a:spcAft>
                <a:spcPts val="600"/>
              </a:spcAft>
            </a:pPr>
            <a:r>
              <a:rPr lang="en-US"/>
              <a:t>
              </a:t>
            </a:r>
          </a:p>
        </p:txBody>
      </p:sp>
      <p:sp>
        <p:nvSpPr>
          <p:cNvPr id="13" name="Slide Number Placeholder 6">
            <a:extLst>
              <a:ext uri="{FF2B5EF4-FFF2-40B4-BE49-F238E27FC236}">
                <a16:creationId xmlns:a16="http://schemas.microsoft.com/office/drawing/2014/main" id="{338D88C4-6ADA-A8DE-198E-EFEAEF694B2E}"/>
              </a:ext>
            </a:extLst>
          </p:cNvPr>
          <p:cNvSpPr>
            <a:spLocks noGrp="1"/>
          </p:cNvSpPr>
          <p:nvPr>
            <p:ph type="sldNum" sz="quarter" idx="12"/>
          </p:nvPr>
        </p:nvSpPr>
        <p:spPr>
          <a:xfrm>
            <a:off x="8724122" y="6453003"/>
            <a:ext cx="321905" cy="365125"/>
          </a:xfrm>
        </p:spPr>
        <p:txBody>
          <a:bodyPr/>
          <a:lstStyle/>
          <a:p>
            <a:pPr>
              <a:spcAft>
                <a:spcPts val="600"/>
              </a:spcAft>
            </a:pPr>
            <a:fld id="{CC057153-B650-4DEB-B370-79DDCFDCE934}" type="slidenum">
              <a:rPr lang="en-US" smtClean="0"/>
              <a:pPr>
                <a:spcAft>
                  <a:spcPts val="600"/>
                </a:spcAft>
              </a:pPr>
              <a:t>8</a:t>
            </a:fld>
            <a:endParaRPr lang="en-US"/>
          </a:p>
        </p:txBody>
      </p:sp>
      <p:pic>
        <p:nvPicPr>
          <p:cNvPr id="5" name="Graphic 4" descr="Grapes with solid fill">
            <a:extLst>
              <a:ext uri="{FF2B5EF4-FFF2-40B4-BE49-F238E27FC236}">
                <a16:creationId xmlns:a16="http://schemas.microsoft.com/office/drawing/2014/main" id="{E78D15EC-8E23-9BF6-CA4C-D81AE0CF2F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00097">
            <a:off x="7092505" y="4780888"/>
            <a:ext cx="1719698" cy="1719698"/>
          </a:xfrm>
          <a:prstGeom prst="rect">
            <a:avLst/>
          </a:prstGeom>
        </p:spPr>
      </p:pic>
      <p:sp>
        <p:nvSpPr>
          <p:cNvPr id="14" name="TextBox 13">
            <a:extLst>
              <a:ext uri="{FF2B5EF4-FFF2-40B4-BE49-F238E27FC236}">
                <a16:creationId xmlns:a16="http://schemas.microsoft.com/office/drawing/2014/main" id="{042574B4-342D-420D-C345-4B13B6B27778}"/>
              </a:ext>
            </a:extLst>
          </p:cNvPr>
          <p:cNvSpPr txBox="1"/>
          <p:nvPr/>
        </p:nvSpPr>
        <p:spPr>
          <a:xfrm>
            <a:off x="634498" y="2072498"/>
            <a:ext cx="7479680" cy="2308324"/>
          </a:xfrm>
          <a:prstGeom prst="rect">
            <a:avLst/>
          </a:prstGeom>
          <a:noFill/>
        </p:spPr>
        <p:txBody>
          <a:bodyPr wrap="square" rtlCol="0">
            <a:spAutoFit/>
          </a:bodyPr>
          <a:lstStyle/>
          <a:p>
            <a:r>
              <a:rPr lang="en-US" b="1" u="sng" dirty="0"/>
              <a:t>Business Purpose</a:t>
            </a:r>
            <a:br>
              <a:rPr lang="en-US" dirty="0"/>
            </a:br>
            <a:r>
              <a:rPr lang="en-US" dirty="0"/>
              <a:t>Monitor employee work hours to improve staffing and payroll accuracy.</a:t>
            </a:r>
          </a:p>
          <a:p>
            <a:r>
              <a:rPr lang="en-US" b="1" u="sng" dirty="0"/>
              <a:t>Report Highlights</a:t>
            </a:r>
            <a:endParaRPr lang="en-US" u="sng" dirty="0"/>
          </a:p>
          <a:p>
            <a:pPr lvl="0"/>
            <a:r>
              <a:rPr lang="en-US" dirty="0"/>
              <a:t>Track hours worked by each employee.</a:t>
            </a:r>
          </a:p>
          <a:p>
            <a:pPr lvl="0"/>
            <a:r>
              <a:rPr lang="en-US" dirty="0"/>
              <a:t>Review workload across departments.</a:t>
            </a:r>
          </a:p>
          <a:p>
            <a:pPr lvl="0"/>
            <a:r>
              <a:rPr lang="en-US" dirty="0"/>
              <a:t>Support payroll processing.</a:t>
            </a:r>
          </a:p>
          <a:p>
            <a:pPr lvl="0"/>
            <a:r>
              <a:rPr lang="en-US" dirty="0"/>
              <a:t>Assist managers with staffing and scheduling decisions.</a:t>
            </a:r>
          </a:p>
        </p:txBody>
      </p:sp>
      <p:pic>
        <p:nvPicPr>
          <p:cNvPr id="8" name="Picture 7">
            <a:extLst>
              <a:ext uri="{FF2B5EF4-FFF2-40B4-BE49-F238E27FC236}">
                <a16:creationId xmlns:a16="http://schemas.microsoft.com/office/drawing/2014/main" id="{FDC7F23A-C332-CB88-43A7-2D6643A215C4}"/>
              </a:ext>
            </a:extLst>
          </p:cNvPr>
          <p:cNvPicPr>
            <a:picLocks noChangeAspect="1"/>
          </p:cNvPicPr>
          <p:nvPr/>
        </p:nvPicPr>
        <p:blipFill>
          <a:blip r:embed="rId5"/>
          <a:srcRect t="62726" r="22440"/>
          <a:stretch>
            <a:fillRect/>
          </a:stretch>
        </p:blipFill>
        <p:spPr>
          <a:xfrm>
            <a:off x="1031378" y="4301734"/>
            <a:ext cx="6225855" cy="255627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descr="Wine with solid fill">
            <a:extLst>
              <a:ext uri="{FF2B5EF4-FFF2-40B4-BE49-F238E27FC236}">
                <a16:creationId xmlns:a16="http://schemas.microsoft.com/office/drawing/2014/main" id="{91769172-6B17-2659-4221-4A8E94556CA9}"/>
              </a:ext>
            </a:extLst>
          </p:cNvPr>
          <p:cNvPicPr>
            <a:picLocks noChangeAspect="1"/>
          </p:cNvPicPr>
          <p:nvPr/>
        </p:nvPicPr>
        <p:blipFill>
          <a:blip>
            <a:alphaModFix amt="30000"/>
            <a:extLst>
              <a:ext uri="{96DAC541-7B7A-43D3-8B79-37D633B846F1}">
                <asvg:svgBlip xmlns:asvg="http://schemas.microsoft.com/office/drawing/2016/SVG/main" r:embed="rId2"/>
              </a:ext>
            </a:extLst>
          </a:blip>
          <a:stretch>
            <a:fillRect/>
          </a:stretch>
        </p:blipFill>
        <p:spPr>
          <a:xfrm rot="634016">
            <a:off x="437067" y="-438987"/>
            <a:ext cx="6937960" cy="6937960"/>
          </a:xfrm>
          <a:prstGeom prst="rect">
            <a:avLst/>
          </a:prstGeom>
        </p:spPr>
      </p:pic>
      <p:pic>
        <p:nvPicPr>
          <p:cNvPr id="6" name="Graphic 5" descr="Bottle with solid fill">
            <a:extLst>
              <a:ext uri="{FF2B5EF4-FFF2-40B4-BE49-F238E27FC236}">
                <a16:creationId xmlns:a16="http://schemas.microsoft.com/office/drawing/2014/main" id="{7F102323-7949-988C-9F23-3E677F6DC6BA}"/>
              </a:ext>
            </a:extLst>
          </p:cNvPr>
          <p:cNvPicPr>
            <a:picLocks noChangeAspect="1"/>
          </p:cNvPicPr>
          <p:nvPr/>
        </p:nvPicPr>
        <p:blipFill>
          <a:blip>
            <a:alphaModFix amt="30000"/>
            <a:extLst>
              <a:ext uri="{96DAC541-7B7A-43D3-8B79-37D633B846F1}">
                <asvg:svgBlip xmlns:asvg="http://schemas.microsoft.com/office/drawing/2016/SVG/main" r:embed="rId3"/>
              </a:ext>
            </a:extLst>
          </a:blip>
          <a:stretch>
            <a:fillRect/>
          </a:stretch>
        </p:blipFill>
        <p:spPr>
          <a:xfrm rot="19268260">
            <a:off x="320375" y="-440958"/>
            <a:ext cx="7334358" cy="7334358"/>
          </a:xfrm>
          <a:prstGeom prst="rect">
            <a:avLst/>
          </a:prstGeom>
        </p:spPr>
      </p:pic>
      <p:sp>
        <p:nvSpPr>
          <p:cNvPr id="2" name="Title 1"/>
          <p:cNvSpPr>
            <a:spLocks noGrp="1"/>
          </p:cNvSpPr>
          <p:nvPr>
            <p:ph type="title"/>
          </p:nvPr>
        </p:nvSpPr>
        <p:spPr/>
        <p:txBody>
          <a:bodyPr/>
          <a:lstStyle/>
          <a:p>
            <a:r>
              <a:rPr dirty="0">
                <a:ln>
                  <a:solidFill>
                    <a:srgbClr val="B8860B">
                      <a:alpha val="48420"/>
                    </a:srgbClr>
                  </a:solidFill>
                </a:ln>
                <a:solidFill>
                  <a:srgbClr val="5C1B2B"/>
                </a:solidFill>
              </a:rPr>
              <a:t>Conclusion</a:t>
            </a:r>
            <a:endParaRPr lang="en-US" dirty="0">
              <a:ln>
                <a:solidFill>
                  <a:srgbClr val="B8860B">
                    <a:alpha val="48420"/>
                  </a:srgbClr>
                </a:solidFill>
              </a:ln>
              <a:solidFill>
                <a:srgbClr val="5C1B2B"/>
              </a:solidFill>
            </a:endParaRPr>
          </a:p>
        </p:txBody>
      </p:sp>
      <p:sp>
        <p:nvSpPr>
          <p:cNvPr id="3" name="TextBox 2"/>
          <p:cNvSpPr txBox="1"/>
          <p:nvPr/>
        </p:nvSpPr>
        <p:spPr>
          <a:xfrm>
            <a:off x="822960" y="1417638"/>
            <a:ext cx="7321580" cy="2308324"/>
          </a:xfrm>
          <a:prstGeom prst="rect">
            <a:avLst/>
          </a:prstGeom>
          <a:noFill/>
        </p:spPr>
        <p:txBody>
          <a:bodyPr wrap="square">
            <a:spAutoFit/>
          </a:bodyPr>
          <a:lstStyle/>
          <a:p>
            <a:pPr marL="285750" lvl="0" indent="-285750">
              <a:buFont typeface="Arial" panose="020B0604020202020204" pitchFamily="34" charset="0"/>
              <a:buChar char="•"/>
            </a:pPr>
            <a:r>
              <a:rPr lang="en-US" dirty="0"/>
              <a:t>Designed a normalized relational database to support Bacchus Winery’s daily operations.</a:t>
            </a:r>
          </a:p>
          <a:p>
            <a:pPr marL="285750" lvl="0" indent="-285750">
              <a:buFont typeface="Arial" panose="020B0604020202020204" pitchFamily="34" charset="0"/>
              <a:buChar char="•"/>
            </a:pPr>
            <a:r>
              <a:rPr lang="en-US" dirty="0"/>
              <a:t>Developed business rules and an Entity Relationship Diagram (ERD) to accurately model the organization’s data.</a:t>
            </a:r>
          </a:p>
          <a:p>
            <a:pPr marL="285750" lvl="0" indent="-285750">
              <a:buFont typeface="Arial" panose="020B0604020202020204" pitchFamily="34" charset="0"/>
              <a:buChar char="•"/>
            </a:pPr>
            <a:r>
              <a:rPr lang="en-US" dirty="0"/>
              <a:t>Created reports that provide valuable insights into supplier performance, wine distribution, and employee hours.</a:t>
            </a:r>
          </a:p>
          <a:p>
            <a:pPr marL="285750" lvl="0" indent="-285750">
              <a:buFont typeface="Arial" panose="020B0604020202020204" pitchFamily="34" charset="0"/>
              <a:buChar char="•"/>
            </a:pPr>
            <a:r>
              <a:rPr lang="en-US" dirty="0"/>
              <a:t>Built a scalable database that improves data integrity, reduces redundancy, and supports future business growth.</a:t>
            </a:r>
          </a:p>
        </p:txBody>
      </p:sp>
      <p:pic>
        <p:nvPicPr>
          <p:cNvPr id="4" name="Graphic 3" descr="Grapes with solid fill">
            <a:extLst>
              <a:ext uri="{FF2B5EF4-FFF2-40B4-BE49-F238E27FC236}">
                <a16:creationId xmlns:a16="http://schemas.microsoft.com/office/drawing/2014/main" id="{2FCC22EA-10F5-FAD1-F532-A546103864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00097">
            <a:off x="7092505" y="4780888"/>
            <a:ext cx="1719698" cy="1719698"/>
          </a:xfrm>
          <a:prstGeom prst="rect">
            <a:avLst/>
          </a:prstGeom>
        </p:spPr>
      </p:pic>
      <p:sp>
        <p:nvSpPr>
          <p:cNvPr id="7" name="TextBox 6">
            <a:extLst>
              <a:ext uri="{FF2B5EF4-FFF2-40B4-BE49-F238E27FC236}">
                <a16:creationId xmlns:a16="http://schemas.microsoft.com/office/drawing/2014/main" id="{C6443BD1-632A-F73D-3D04-A8BEB66D5E42}"/>
              </a:ext>
            </a:extLst>
          </p:cNvPr>
          <p:cNvSpPr txBox="1"/>
          <p:nvPr/>
        </p:nvSpPr>
        <p:spPr>
          <a:xfrm>
            <a:off x="1191646" y="3728336"/>
            <a:ext cx="6209435" cy="2462213"/>
          </a:xfrm>
          <a:prstGeom prst="rect">
            <a:avLst/>
          </a:prstGeom>
          <a:noFill/>
        </p:spPr>
        <p:txBody>
          <a:bodyPr wrap="square" rtlCol="0">
            <a:spAutoFit/>
          </a:bodyPr>
          <a:lstStyle/>
          <a:p>
            <a:r>
              <a:rPr lang="en-US" sz="1400" b="1" u="sng" dirty="0"/>
              <a:t>Notes</a:t>
            </a:r>
          </a:p>
          <a:p>
            <a:r>
              <a:rPr lang="en-US" sz="1400" dirty="0"/>
              <a:t>Throughout this project, our team designed a relational database that addresses the operational needs of Bacchus Winery. We began by identifying the business requirements, developed business rules, and created a normalized database structure supported by our Entity Relationship Diagram. We then demonstrated how the database can generate meaningful reports that help management monitor supplier performance, analyze wine distribution, and track employee hours. Overall, our solution provides a reliable, scalable foundation that improves data accuracy and supports informed business decision-making.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VanillaVTI">
  <a:themeElements>
    <a:clrScheme name="VanillaVTI">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a2bbe6a-a773-4ec3-ab82-70216fc6b999">
      <Terms xmlns="http://schemas.microsoft.com/office/infopath/2007/PartnerControls"/>
    </lcf76f155ced4ddcb4097134ff3c332f>
    <TaxCatchAll xmlns="7d14a464-4ade-4d78-8ad2-92ca3b5e25f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22F804A24363645A3140D0F084E46DE" ma:contentTypeVersion="10" ma:contentTypeDescription="Create a new document." ma:contentTypeScope="" ma:versionID="b9a9ea6d27acadbf5aed4029eb159cef">
  <xsd:schema xmlns:xsd="http://www.w3.org/2001/XMLSchema" xmlns:xs="http://www.w3.org/2001/XMLSchema" xmlns:p="http://schemas.microsoft.com/office/2006/metadata/properties" xmlns:ns2="ea2bbe6a-a773-4ec3-ab82-70216fc6b999" xmlns:ns3="7d14a464-4ade-4d78-8ad2-92ca3b5e25f1" targetNamespace="http://schemas.microsoft.com/office/2006/metadata/properties" ma:root="true" ma:fieldsID="9469181ac1aca5d3a569de5f28fa6b44" ns2:_="" ns3:_="">
    <xsd:import namespace="ea2bbe6a-a773-4ec3-ab82-70216fc6b999"/>
    <xsd:import namespace="7d14a464-4ade-4d78-8ad2-92ca3b5e25f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2bbe6a-a773-4ec3-ab82-70216fc6b9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b3b29b4-c9d7-4060-9033-20070191685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d14a464-4ade-4d78-8ad2-92ca3b5e25f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5a81130-74b6-4815-8d59-756352d83c58}" ma:internalName="TaxCatchAll" ma:showField="CatchAllData" ma:web="7d14a464-4ade-4d78-8ad2-92ca3b5e25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6456DD7-E365-484F-A511-637C073ACA56}">
  <ds:schemaRefs>
    <ds:schemaRef ds:uri="http://schemas.microsoft.com/office/2006/documentManagement/types"/>
    <ds:schemaRef ds:uri="http://purl.org/dc/elements/1.1/"/>
    <ds:schemaRef ds:uri="http://purl.org/dc/dcmitype/"/>
    <ds:schemaRef ds:uri="ea2bbe6a-a773-4ec3-ab82-70216fc6b999"/>
    <ds:schemaRef ds:uri="http://purl.org/dc/terms/"/>
    <ds:schemaRef ds:uri="http://www.w3.org/XML/1998/namespace"/>
    <ds:schemaRef ds:uri="7d14a464-4ade-4d78-8ad2-92ca3b5e25f1"/>
    <ds:schemaRef ds:uri="http://schemas.microsoft.com/office/2006/metadata/properties"/>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12F74694-E040-448B-A107-888AF2A4551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a2bbe6a-a773-4ec3-ab82-70216fc6b999"/>
    <ds:schemaRef ds:uri="7d14a464-4ade-4d78-8ad2-92ca3b5e25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107EFDD-DBB3-4C8D-A426-3720C2FA961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142</TotalTime>
  <Words>732</Words>
  <Application>Microsoft Office PowerPoint</Application>
  <PresentationFormat>On-screen Show (4:3)</PresentationFormat>
  <Paragraphs>89</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VanillaVTI</vt:lpstr>
      <vt:lpstr>Bacchus Winery Database Design Project</vt:lpstr>
      <vt:lpstr>Case Study Overview _______________</vt:lpstr>
      <vt:lpstr>Business Rules: Operations _______________</vt:lpstr>
      <vt:lpstr>Business Rules: Production &amp; Distribution  _______________</vt:lpstr>
      <vt:lpstr>Entity Relationship Diagram _____________</vt:lpstr>
      <vt:lpstr>Report #1: Supplier Delivery Performance _______________</vt:lpstr>
      <vt:lpstr>Report #2: Wine Sales &amp; Distribution _______________</vt:lpstr>
      <vt:lpstr>Report #3: Employee Hours Tracking _______________</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Timothy Martin</cp:lastModifiedBy>
  <cp:revision>113</cp:revision>
  <dcterms:created xsi:type="dcterms:W3CDTF">2013-01-27T09:14:16Z</dcterms:created>
  <dcterms:modified xsi:type="dcterms:W3CDTF">2026-07-31T16:50:15Z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0x010100922F804A24363645A3140D0F084E46DE</vt:lpwstr>
  </property>
  <property fmtid="{D5CDD505-2E9C-101B-9397-08002B2CF9AE}" pid="3" name="MediaServiceImageTags">
    <vt:lpwstr/>
  </property>
</Properties>
</file>